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A31F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21951-B0A6-4AF5-BE6E-35635D92DBCC}" v="3" dt="2025-12-08T13:07:02.060"/>
    <p1510:client id="{EE784E3D-ECC1-47B1-BFEF-07F2BC2176D7}" v="57" dt="2025-12-08T15:43:50.344"/>
    <p1510:client id="{F17D507B-FA7A-FCA4-9F26-DC8647495363}" v="159" dt="2025-12-08T15:33:03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8T15:37:36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13506 4083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81A70-FB84-4A85-AAB6-F1D2388D45B7}" type="datetimeFigureOut"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0EB69-BCAC-488B-AAF1-1881DCD511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5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1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customXml" Target="../ink/ink1.xml"/><Relationship Id="rId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8.svg"/><Relationship Id="rId10" Type="http://schemas.openxmlformats.org/officeDocument/2006/relationships/image" Target="../media/image42.jpeg"/><Relationship Id="rId4" Type="http://schemas.openxmlformats.org/officeDocument/2006/relationships/image" Target="../media/image37.png"/><Relationship Id="rId9" Type="http://schemas.openxmlformats.org/officeDocument/2006/relationships/image" Target="../media/image4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3" Type="http://schemas.openxmlformats.org/officeDocument/2006/relationships/image" Target="../media/image24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37.png"/><Relationship Id="rId15" Type="http://schemas.openxmlformats.org/officeDocument/2006/relationships/image" Target="../media/image52.svg"/><Relationship Id="rId10" Type="http://schemas.openxmlformats.org/officeDocument/2006/relationships/image" Target="../media/image48.svg"/><Relationship Id="rId4" Type="http://schemas.openxmlformats.org/officeDocument/2006/relationships/image" Target="../media/image43.svg"/><Relationship Id="rId9" Type="http://schemas.openxmlformats.org/officeDocument/2006/relationships/image" Target="../media/image47.png"/><Relationship Id="rId1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53.svg"/><Relationship Id="rId4" Type="http://schemas.openxmlformats.org/officeDocument/2006/relationships/image" Target="../media/image26.png"/><Relationship Id="rId9" Type="http://schemas.openxmlformats.org/officeDocument/2006/relationships/image" Target="../media/image5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11" Type="http://schemas.openxmlformats.org/officeDocument/2006/relationships/image" Target="../media/image64.jpe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svg"/><Relationship Id="rId3" Type="http://schemas.openxmlformats.org/officeDocument/2006/relationships/image" Target="../media/image65.png"/><Relationship Id="rId7" Type="http://schemas.openxmlformats.org/officeDocument/2006/relationships/image" Target="../media/image69.sv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svg"/><Relationship Id="rId5" Type="http://schemas.openxmlformats.org/officeDocument/2006/relationships/image" Target="../media/image67.sv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rs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0750" y="9677400"/>
            <a:ext cx="13906500" cy="228600"/>
          </a:xfrm>
          <a:prstGeom prst="rect">
            <a:avLst/>
          </a:prstGeom>
        </p:spPr>
      </p:pic>
      <p:sp>
        <p:nvSpPr>
          <p:cNvPr id="3" name="Subheading"/>
          <p:cNvSpPr/>
          <p:nvPr/>
        </p:nvSpPr>
        <p:spPr>
          <a:xfrm>
            <a:off x="2190750" y="2286000"/>
            <a:ext cx="14239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BCC0C5"/>
                </a:solidFill>
                <a:latin typeface="Inter Medium"/>
                <a:ea typeface="Inter Medium" pitchFamily="34" charset="-122"/>
                <a:cs typeface="Inter Medium" pitchFamily="34" charset="-120"/>
              </a:rPr>
              <a:t>ULTIMATIVNA PLATFORMA ZA FIZIČKI AI I APLIKACIJE U ROBOTICI</a:t>
            </a:r>
            <a:endParaRPr lang="en-US" sz="2100">
              <a:latin typeface="Inter Medium"/>
            </a:endParaRPr>
          </a:p>
        </p:txBody>
      </p:sp>
      <p:sp>
        <p:nvSpPr>
          <p:cNvPr id="4" name="Title"/>
          <p:cNvSpPr/>
          <p:nvPr/>
        </p:nvSpPr>
        <p:spPr>
          <a:xfrm>
            <a:off x="2190750" y="2990850"/>
            <a:ext cx="1423987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0500" b="1" kern="0" spc="-300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JETSON THOR</a:t>
            </a:r>
            <a:endParaRPr lang="en-US" sz="10500" b="1">
              <a:latin typeface="Inter Semi Bold"/>
              <a:ea typeface="Inter Semi Bold"/>
            </a:endParaRPr>
          </a:p>
        </p:txBody>
      </p:sp>
      <p:sp>
        <p:nvSpPr>
          <p:cNvPr id="5" name="Subheading 2"/>
          <p:cNvSpPr/>
          <p:nvPr/>
        </p:nvSpPr>
        <p:spPr>
          <a:xfrm>
            <a:off x="2190750" y="4895850"/>
            <a:ext cx="93154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-75" dirty="0">
                <a:solidFill>
                  <a:srgbClr val="BCC0C5"/>
                </a:solidFill>
                <a:latin typeface="Inter Medium"/>
                <a:ea typeface="Inter Medium" pitchFamily="34" charset="-122"/>
                <a:cs typeface="Inter Medium" pitchFamily="34" charset="-120"/>
              </a:rPr>
              <a:t>by NVIDIA</a:t>
            </a:r>
            <a:endParaRPr lang="en-US" sz="2100">
              <a:latin typeface="Inter Medium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pters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500" y="3028950"/>
            <a:ext cx="8191500" cy="5619750"/>
          </a:xfrm>
          <a:prstGeom prst="rect">
            <a:avLst/>
          </a:prstGeom>
        </p:spPr>
      </p:pic>
      <p:pic>
        <p:nvPicPr>
          <p:cNvPr id="3" name="Bars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10058400"/>
            <a:ext cx="18288000" cy="228600"/>
          </a:xfrm>
          <a:prstGeom prst="rect">
            <a:avLst/>
          </a:prstGeom>
        </p:spPr>
      </p:pic>
      <p:sp>
        <p:nvSpPr>
          <p:cNvPr id="4" name="Chapter title"/>
          <p:cNvSpPr/>
          <p:nvPr/>
        </p:nvSpPr>
        <p:spPr>
          <a:xfrm>
            <a:off x="9334500" y="3028950"/>
            <a:ext cx="821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kern="0" spc="-75" dirty="0">
                <a:solidFill>
                  <a:srgbClr val="FFFFFF"/>
                </a:solidFill>
                <a:latin typeface="Inter Medium"/>
                <a:ea typeface="Inter Medium" pitchFamily="34" charset="-122"/>
                <a:cs typeface="Inter Medium" pitchFamily="34" charset="-120"/>
              </a:rPr>
              <a:t>01 Fizički AI?</a:t>
            </a:r>
            <a:endParaRPr lang="en-US" sz="3150">
              <a:latin typeface="Inter Medium"/>
            </a:endParaRPr>
          </a:p>
        </p:txBody>
      </p:sp>
      <p:sp>
        <p:nvSpPr>
          <p:cNvPr id="5" name="Chapter title"/>
          <p:cNvSpPr/>
          <p:nvPr/>
        </p:nvSpPr>
        <p:spPr>
          <a:xfrm>
            <a:off x="9334500" y="3886200"/>
            <a:ext cx="821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kern="0" spc="-75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 Jetson platforma</a:t>
            </a:r>
            <a:endParaRPr lang="en-US" sz="3150" dirty="0"/>
          </a:p>
        </p:txBody>
      </p:sp>
      <p:sp>
        <p:nvSpPr>
          <p:cNvPr id="6" name="Chapter title"/>
          <p:cNvSpPr/>
          <p:nvPr/>
        </p:nvSpPr>
        <p:spPr>
          <a:xfrm>
            <a:off x="9334500" y="4743450"/>
            <a:ext cx="821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kern="0" spc="-75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 Inovacije i arhitektura </a:t>
            </a:r>
            <a:endParaRPr lang="en-US" sz="3150" dirty="0"/>
          </a:p>
        </p:txBody>
      </p:sp>
      <p:sp>
        <p:nvSpPr>
          <p:cNvPr id="7" name="Chapter title"/>
          <p:cNvSpPr/>
          <p:nvPr/>
        </p:nvSpPr>
        <p:spPr>
          <a:xfrm>
            <a:off x="9334500" y="5600700"/>
            <a:ext cx="821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kern="0" spc="-75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 Računarska moć</a:t>
            </a:r>
            <a:endParaRPr lang="en-US" sz="3150" dirty="0"/>
          </a:p>
        </p:txBody>
      </p:sp>
      <p:sp>
        <p:nvSpPr>
          <p:cNvPr id="8" name="Chapter title"/>
          <p:cNvSpPr/>
          <p:nvPr/>
        </p:nvSpPr>
        <p:spPr>
          <a:xfrm>
            <a:off x="9334500" y="6457950"/>
            <a:ext cx="821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kern="0" spc="-75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 Thor vs Orin</a:t>
            </a:r>
            <a:endParaRPr lang="en-US" sz="3150" dirty="0"/>
          </a:p>
        </p:txBody>
      </p:sp>
      <p:sp>
        <p:nvSpPr>
          <p:cNvPr id="9" name="Chapter title"/>
          <p:cNvSpPr/>
          <p:nvPr/>
        </p:nvSpPr>
        <p:spPr>
          <a:xfrm>
            <a:off x="9334500" y="7315200"/>
            <a:ext cx="821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kern="0" spc="-75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 Prednosti i nedostaci</a:t>
            </a:r>
            <a:endParaRPr lang="en-US" sz="3150" dirty="0"/>
          </a:p>
        </p:txBody>
      </p:sp>
      <p:sp>
        <p:nvSpPr>
          <p:cNvPr id="10" name="Chapter title"/>
          <p:cNvSpPr/>
          <p:nvPr/>
        </p:nvSpPr>
        <p:spPr>
          <a:xfrm>
            <a:off x="9334500" y="8172450"/>
            <a:ext cx="821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kern="0" spc="-75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 Primjena</a:t>
            </a:r>
            <a:endParaRPr lang="en-US" sz="3150" dirty="0"/>
          </a:p>
        </p:txBody>
      </p:sp>
      <p:sp>
        <p:nvSpPr>
          <p:cNvPr id="11" name="Heading 1"/>
          <p:cNvSpPr/>
          <p:nvPr/>
        </p:nvSpPr>
        <p:spPr>
          <a:xfrm>
            <a:off x="762000" y="3028950"/>
            <a:ext cx="67818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Agenda</a:t>
            </a:r>
            <a:endParaRPr lang="en-US" sz="4800" b="1">
              <a:latin typeface="Inter Semi Bold"/>
              <a:ea typeface="Inter Semi Bold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row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33425" y="2713750"/>
            <a:ext cx="1371600" cy="905750"/>
          </a:xfrm>
          <a:prstGeom prst="rect">
            <a:avLst/>
          </a:prstGeom>
        </p:spPr>
      </p:pic>
      <p:pic>
        <p:nvPicPr>
          <p:cNvPr id="3" name="Arrow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992475" y="8001000"/>
            <a:ext cx="1371600" cy="905751"/>
          </a:xfrm>
          <a:prstGeom prst="rect">
            <a:avLst/>
          </a:prstGeom>
        </p:spPr>
      </p:pic>
      <p:pic>
        <p:nvPicPr>
          <p:cNvPr id="4" name="Step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2000" y="4095750"/>
            <a:ext cx="3905250" cy="3876675"/>
          </a:xfrm>
          <a:prstGeom prst="rect">
            <a:avLst/>
          </a:prstGeom>
        </p:spPr>
      </p:pic>
      <p:pic>
        <p:nvPicPr>
          <p:cNvPr id="5" name="Step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48250" y="4095750"/>
            <a:ext cx="3905250" cy="4324350"/>
          </a:xfrm>
          <a:prstGeom prst="rect">
            <a:avLst/>
          </a:prstGeom>
        </p:spPr>
      </p:pic>
      <p:pic>
        <p:nvPicPr>
          <p:cNvPr id="6" name="Step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34500" y="4095750"/>
            <a:ext cx="3905250" cy="4229100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762000" y="1143000"/>
            <a:ext cx="120586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Uvod</a:t>
            </a:r>
            <a:endParaRPr lang="en-US" sz="4800" b="1">
              <a:ea typeface="Calibri"/>
              <a:cs typeface="Calibri"/>
            </a:endParaRPr>
          </a:p>
        </p:txBody>
      </p:sp>
      <p:sp>
        <p:nvSpPr>
          <p:cNvPr id="8" name="name_1"/>
          <p:cNvSpPr/>
          <p:nvPr/>
        </p:nvSpPr>
        <p:spPr>
          <a:xfrm>
            <a:off x="976993" y="4231821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333"/>
              </a:lnSpc>
              <a:buNone/>
            </a:pPr>
            <a:r>
              <a:rPr lang="en-US" sz="3300" kern="0" spc="-75" dirty="0">
                <a:solidFill>
                  <a:srgbClr val="D53F52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1</a:t>
            </a:r>
            <a:endParaRPr lang="en-US" sz="3300">
              <a:ea typeface="Inter Semi Bold"/>
            </a:endParaRPr>
          </a:p>
        </p:txBody>
      </p:sp>
      <p:sp>
        <p:nvSpPr>
          <p:cNvPr id="9" name="Subheader"/>
          <p:cNvSpPr/>
          <p:nvPr/>
        </p:nvSpPr>
        <p:spPr>
          <a:xfrm>
            <a:off x="762000" y="5162550"/>
            <a:ext cx="39243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3150" b="1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Ubrzani razvoj robotike i fizičkog AI</a:t>
            </a:r>
            <a:endParaRPr lang="en-US" sz="3150" b="1">
              <a:ea typeface="Inter Semi Bold"/>
              <a:cs typeface="Calibri"/>
            </a:endParaRPr>
          </a:p>
        </p:txBody>
      </p:sp>
      <p:sp>
        <p:nvSpPr>
          <p:cNvPr id="10" name="Paragraph"/>
          <p:cNvSpPr/>
          <p:nvPr/>
        </p:nvSpPr>
        <p:spPr>
          <a:xfrm>
            <a:off x="762000" y="6210300"/>
            <a:ext cx="392430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Robotski sistemi postaju sve inteligentniji, a Physical AI omogućava robotima da razumiju i reaguju na stvarno okruženje u realnom vremenu.</a:t>
            </a:r>
            <a:endParaRPr lang="en-US" sz="2100" dirty="0"/>
          </a:p>
        </p:txBody>
      </p:sp>
      <p:sp>
        <p:nvSpPr>
          <p:cNvPr id="11" name="name_2"/>
          <p:cNvSpPr/>
          <p:nvPr/>
        </p:nvSpPr>
        <p:spPr>
          <a:xfrm>
            <a:off x="5248275" y="4231821"/>
            <a:ext cx="29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333"/>
              </a:lnSpc>
              <a:buNone/>
            </a:pPr>
            <a:r>
              <a:rPr lang="en-US" sz="3300" kern="0" spc="-75" dirty="0">
                <a:solidFill>
                  <a:srgbClr val="E3663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2</a:t>
            </a:r>
            <a:endParaRPr lang="en-US" sz="3300" dirty="0"/>
          </a:p>
        </p:txBody>
      </p:sp>
      <p:sp>
        <p:nvSpPr>
          <p:cNvPr id="12" name="Subheader"/>
          <p:cNvSpPr/>
          <p:nvPr/>
        </p:nvSpPr>
        <p:spPr>
          <a:xfrm>
            <a:off x="5048250" y="5162550"/>
            <a:ext cx="3924300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315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Potreba za ultra-snažnim Edge AI rješenjima</a:t>
            </a:r>
            <a:endParaRPr lang="en-US" sz="3150" b="1">
              <a:latin typeface="Inter Semi Bold"/>
              <a:ea typeface="Calibri"/>
              <a:cs typeface="Calibri"/>
            </a:endParaRPr>
          </a:p>
        </p:txBody>
      </p:sp>
      <p:sp>
        <p:nvSpPr>
          <p:cNvPr id="13" name="Paragraph"/>
          <p:cNvSpPr/>
          <p:nvPr/>
        </p:nvSpPr>
        <p:spPr>
          <a:xfrm>
            <a:off x="5048250" y="6657975"/>
            <a:ext cx="392430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Zbog ogromne količine senzorskih podataka, robotima je potrebna lokalna obrada, cloud je prespor i nepouzdan za kritične funkcije.</a:t>
            </a:r>
            <a:endParaRPr lang="en-US" sz="2100" dirty="0"/>
          </a:p>
        </p:txBody>
      </p:sp>
      <p:sp>
        <p:nvSpPr>
          <p:cNvPr id="14" name="name_3"/>
          <p:cNvSpPr/>
          <p:nvPr/>
        </p:nvSpPr>
        <p:spPr>
          <a:xfrm>
            <a:off x="9525000" y="423182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333"/>
              </a:lnSpc>
              <a:buNone/>
            </a:pPr>
            <a:r>
              <a:rPr lang="en-US" sz="3300" kern="0" spc="-75" dirty="0">
                <a:solidFill>
                  <a:srgbClr val="29B9CD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Subheader"/>
          <p:cNvSpPr/>
          <p:nvPr/>
        </p:nvSpPr>
        <p:spPr>
          <a:xfrm>
            <a:off x="9334500" y="5148943"/>
            <a:ext cx="3924300" cy="908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315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Zahtjevi</a:t>
            </a:r>
            <a:r>
              <a:rPr lang="en-US" sz="315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15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autonomnih</a:t>
            </a:r>
            <a:r>
              <a:rPr lang="en-US" sz="315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15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sistema</a:t>
            </a:r>
            <a:endParaRPr lang="en-US" sz="3150" b="1" dirty="0" err="1">
              <a:latin typeface="Inter Semi Bold"/>
              <a:ea typeface="Inter Semi Bold"/>
              <a:cs typeface="Calibri"/>
            </a:endParaRPr>
          </a:p>
        </p:txBody>
      </p:sp>
      <p:sp>
        <p:nvSpPr>
          <p:cNvPr id="16" name="Paragraph"/>
          <p:cNvSpPr/>
          <p:nvPr/>
        </p:nvSpPr>
        <p:spPr>
          <a:xfrm>
            <a:off x="9334500" y="6672943"/>
            <a:ext cx="39243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NVIDIA Jetson Thor donosi računalnu snagu server klase direktno na uređaj, što omogućava napredne autonomne funkcije bez kašnjenja.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ight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92000" y="0"/>
            <a:ext cx="6096000" cy="10287000"/>
          </a:xfrm>
          <a:prstGeom prst="rect">
            <a:avLst/>
          </a:prstGeom>
        </p:spPr>
      </p:pic>
      <p:pic>
        <p:nvPicPr>
          <p:cNvPr id="3" name="Badge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2000" y="1143000"/>
            <a:ext cx="2171700" cy="476250"/>
          </a:xfrm>
          <a:prstGeom prst="rect">
            <a:avLst/>
          </a:prstGeom>
        </p:spPr>
      </p:pic>
      <p:sp>
        <p:nvSpPr>
          <p:cNvPr id="4" name="Text"/>
          <p:cNvSpPr/>
          <p:nvPr/>
        </p:nvSpPr>
        <p:spPr>
          <a:xfrm>
            <a:off x="1019175" y="1189264"/>
            <a:ext cx="1657350" cy="46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333"/>
              </a:lnSpc>
              <a:buNone/>
            </a:pPr>
            <a:r>
              <a:rPr lang="en-US" sz="2700" b="1" kern="0" spc="-75" dirty="0">
                <a:solidFill>
                  <a:srgbClr val="000000"/>
                </a:solidFill>
                <a:latin typeface="Inter Semi Bold"/>
                <a:ea typeface="Inter Semi Bold"/>
                <a:cs typeface="Inter Semi Bold" pitchFamily="34" charset="-120"/>
              </a:rPr>
              <a:t>Fizički AI?</a:t>
            </a:r>
            <a:endParaRPr lang="en-US" sz="2700" b="1">
              <a:latin typeface="Inter Semi Bold"/>
              <a:ea typeface="Inter Semi Bold"/>
            </a:endParaRPr>
          </a:p>
        </p:txBody>
      </p:sp>
      <p:sp>
        <p:nvSpPr>
          <p:cNvPr id="5" name="Subheader"/>
          <p:cNvSpPr/>
          <p:nvPr/>
        </p:nvSpPr>
        <p:spPr>
          <a:xfrm>
            <a:off x="762000" y="1924050"/>
            <a:ext cx="9515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BCC0C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ŠTA JE FIZIČKI AI?</a:t>
            </a:r>
            <a:endParaRPr lang="en-US" sz="2100" dirty="0"/>
          </a:p>
        </p:txBody>
      </p:sp>
      <p:sp>
        <p:nvSpPr>
          <p:cNvPr id="6" name="Heading"/>
          <p:cNvSpPr/>
          <p:nvPr/>
        </p:nvSpPr>
        <p:spPr>
          <a:xfrm>
            <a:off x="762000" y="2400300"/>
            <a:ext cx="10782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Fizički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AI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spaja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percepciju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,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razumijevanje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akciju</a:t>
            </a:r>
            <a:endParaRPr lang="en-US" sz="3000" b="1">
              <a:solidFill>
                <a:srgbClr val="000000"/>
              </a:solidFill>
              <a:latin typeface="Calibri" panose="020F0502020204030204"/>
              <a:ea typeface="Inter Semi Bold"/>
              <a:cs typeface="Calibri" panose="020F0502020204030204"/>
            </a:endParaRPr>
          </a:p>
          <a:p>
            <a:pPr marL="381000" indent="-381000"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Potrebna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obrada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u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realnom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vremenu</a:t>
            </a:r>
            <a:endParaRPr lang="en-US" sz="30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81000" indent="-381000" algn="l">
              <a:lnSpc>
                <a:spcPct val="100000"/>
              </a:lnSpc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Minimalna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latencija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bez cloud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zavisnosti</a:t>
            </a:r>
            <a:endParaRPr lang="en-US" sz="3000" b="1">
              <a:latin typeface="Inter Semi Bold"/>
              <a:ea typeface="Calibri"/>
              <a:cs typeface="Calibri"/>
            </a:endParaRPr>
          </a:p>
        </p:txBody>
      </p:sp>
      <p:sp>
        <p:nvSpPr>
          <p:cNvPr id="7" name="Body 1"/>
          <p:cNvSpPr/>
          <p:nvPr/>
        </p:nvSpPr>
        <p:spPr>
          <a:xfrm>
            <a:off x="762000" y="4248150"/>
            <a:ext cx="106870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Physical AI kombinuje senzorsku percepciju, razumijevanje okruženja i izvođenje akcija u realnom vremenu. Ovakvi sistemi zahtijevaju minimalnu latenciju i visoko optimizovane hardverske platforme koje mogu simultano obrađivati kompleksne podatke.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ight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92000" y="0"/>
            <a:ext cx="6096000" cy="10287000"/>
          </a:xfrm>
          <a:prstGeom prst="rect">
            <a:avLst/>
          </a:prstGeom>
        </p:spPr>
      </p:pic>
      <p:pic>
        <p:nvPicPr>
          <p:cNvPr id="3" name="Badge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2000" y="1143000"/>
            <a:ext cx="3305175" cy="476250"/>
          </a:xfrm>
          <a:prstGeom prst="rect">
            <a:avLst/>
          </a:prstGeom>
        </p:spPr>
      </p:pic>
      <p:sp>
        <p:nvSpPr>
          <p:cNvPr id="4" name="Text"/>
          <p:cNvSpPr/>
          <p:nvPr/>
        </p:nvSpPr>
        <p:spPr>
          <a:xfrm>
            <a:off x="1019175" y="1189264"/>
            <a:ext cx="2800350" cy="35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333"/>
              </a:lnSpc>
              <a:buNone/>
            </a:pPr>
            <a:r>
              <a:rPr lang="en-US" sz="2700" b="1" kern="0" spc="-75" dirty="0">
                <a:solidFill>
                  <a:srgbClr val="000000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Jetson platforma</a:t>
            </a:r>
            <a:endParaRPr lang="en-US" sz="2700" b="1">
              <a:ea typeface="Inter Semi Bold"/>
              <a:cs typeface="Calibri"/>
            </a:endParaRPr>
          </a:p>
        </p:txBody>
      </p:sp>
      <p:sp>
        <p:nvSpPr>
          <p:cNvPr id="5" name="Subheader"/>
          <p:cNvSpPr/>
          <p:nvPr/>
        </p:nvSpPr>
        <p:spPr>
          <a:xfrm>
            <a:off x="762000" y="1924050"/>
            <a:ext cx="9515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BCC0C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JETSON LINIJA - EMBEDDED AI COMPUTING PLATFORMA</a:t>
            </a:r>
            <a:endParaRPr lang="en-US" sz="2100" dirty="0"/>
          </a:p>
        </p:txBody>
      </p:sp>
      <p:sp>
        <p:nvSpPr>
          <p:cNvPr id="6" name="Heading"/>
          <p:cNvSpPr/>
          <p:nvPr/>
        </p:nvSpPr>
        <p:spPr>
          <a:xfrm>
            <a:off x="762000" y="2400300"/>
            <a:ext cx="10782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•"/>
            </a:pP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Standard za Edge AI</a:t>
            </a:r>
            <a:endParaRPr lang="en-US" sz="3000" b="1">
              <a:solidFill>
                <a:srgbClr val="000000"/>
              </a:solidFill>
              <a:latin typeface="Inter Semi Bold"/>
              <a:ea typeface="Inter Semi Bold"/>
              <a:cs typeface="Inter Semi Bold" pitchFamily="34" charset="-120"/>
            </a:endParaRPr>
          </a:p>
          <a:p>
            <a:pPr marL="381000" indent="-381000"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Primjena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u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robotici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,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autonomnoj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vožnji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analitici</a:t>
            </a:r>
            <a:endParaRPr lang="en-US" sz="3000" b="1" kern="0" spc="-75">
              <a:solidFill>
                <a:srgbClr val="FFFFFF"/>
              </a:solidFill>
              <a:latin typeface="Calibri"/>
              <a:ea typeface="Inter Semi Bold"/>
              <a:cs typeface="Calibri"/>
            </a:endParaRPr>
          </a:p>
          <a:p>
            <a:pPr marL="381000" indent="-381000" algn="l">
              <a:lnSpc>
                <a:spcPct val="100000"/>
              </a:lnSpc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Softwerska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podrška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: CUDA, Isaac, TensorRT</a:t>
            </a:r>
            <a:endParaRPr lang="en-US" sz="3000" b="1">
              <a:latin typeface="Calibri"/>
              <a:ea typeface="Inter Semi Bold"/>
              <a:cs typeface="Calibri"/>
            </a:endParaRPr>
          </a:p>
        </p:txBody>
      </p:sp>
      <p:sp>
        <p:nvSpPr>
          <p:cNvPr id="7" name="Body 1"/>
          <p:cNvSpPr/>
          <p:nvPr/>
        </p:nvSpPr>
        <p:spPr>
          <a:xfrm>
            <a:off x="762000" y="4248150"/>
            <a:ext cx="10687050" cy="352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NVIDIA Jetson predstavlja seriju ugrađenih računarskih modula visokih performansi (System-on-Module - SoM) namijenjenih razvoju i implementaciji sistema umjetne inteligencije na rubu mreže (Edge AI).
Jetson moduli nude kompaktna i snažna rješenja za robotiku, autonomna vozila i naprednu video analitiku. Povezani su s NVIDIA AI softverskim ekosistemom, što omogućava jednostavnu integraciju i razvoj složenih AI aplikacija.
Jetson linija modula uključuje AGX Thor, AGX Orin, Orin NX, Orin Nano, AGX Xavier, Xavier NX, TX2 i Nano seriju.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2000" y="1143000"/>
            <a:ext cx="2495550" cy="476250"/>
          </a:xfrm>
          <a:prstGeom prst="rect">
            <a:avLst/>
          </a:prstGeom>
        </p:spPr>
      </p:pic>
      <p:sp>
        <p:nvSpPr>
          <p:cNvPr id="3" name="Text"/>
          <p:cNvSpPr/>
          <p:nvPr/>
        </p:nvSpPr>
        <p:spPr>
          <a:xfrm>
            <a:off x="1019175" y="1189264"/>
            <a:ext cx="1990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333"/>
              </a:lnSpc>
              <a:buNone/>
            </a:pPr>
            <a:r>
              <a:rPr lang="en-US" sz="2700" b="1" kern="0" spc="-75" dirty="0">
                <a:solidFill>
                  <a:srgbClr val="000000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Jetson Thor</a:t>
            </a:r>
            <a:endParaRPr lang="en-US" sz="2700" b="1">
              <a:ea typeface="Inter Semi Bold"/>
              <a:cs typeface="Calibri"/>
            </a:endParaRPr>
          </a:p>
        </p:txBody>
      </p:sp>
      <p:sp>
        <p:nvSpPr>
          <p:cNvPr id="4" name="Subheader"/>
          <p:cNvSpPr/>
          <p:nvPr/>
        </p:nvSpPr>
        <p:spPr>
          <a:xfrm>
            <a:off x="762000" y="1924050"/>
            <a:ext cx="9515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BCC0C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NAJNAPREDNIJA EDGE AI PLATFORMA</a:t>
            </a:r>
            <a:endParaRPr lang="en-US" sz="2100" dirty="0"/>
          </a:p>
        </p:txBody>
      </p:sp>
      <p:sp>
        <p:nvSpPr>
          <p:cNvPr id="5" name="Heading"/>
          <p:cNvSpPr/>
          <p:nvPr/>
        </p:nvSpPr>
        <p:spPr>
          <a:xfrm>
            <a:off x="762000" y="2400300"/>
            <a:ext cx="10782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•"/>
            </a:pP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Najsnažniji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Jetson </a:t>
            </a: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modul</a:t>
            </a:r>
            <a:endParaRPr lang="en-US" sz="3000" b="1">
              <a:solidFill>
                <a:srgbClr val="000000"/>
              </a:solidFill>
              <a:latin typeface="Calibri" panose="020F0502020204030204"/>
              <a:ea typeface="Inter Semi Bold"/>
              <a:cs typeface="Calibri" panose="020F0502020204030204"/>
            </a:endParaRPr>
          </a:p>
          <a:p>
            <a:pPr marL="381000" indent="-381000">
              <a:buSzPct val="100000"/>
              <a:buChar char="•"/>
            </a:pP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Dizajniran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za </a:t>
            </a: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generativnu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AI </a:t>
            </a: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naprednu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robotiku</a:t>
            </a:r>
            <a:endParaRPr lang="en-US" sz="30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81000" indent="-381000" algn="l">
              <a:lnSpc>
                <a:spcPct val="100000"/>
              </a:lnSpc>
              <a:buSzPct val="100000"/>
              <a:buChar char="•"/>
            </a:pPr>
            <a:r>
              <a:rPr lang="en-US" sz="3000" b="1" kern="0" spc="-75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Nasljednik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Orina</a:t>
            </a:r>
            <a:endParaRPr lang="en-US" sz="3000" b="1">
              <a:latin typeface="Inter Semi Bold"/>
              <a:ea typeface="Calibri"/>
              <a:cs typeface="Calibri"/>
            </a:endParaRPr>
          </a:p>
        </p:txBody>
      </p:sp>
      <p:sp>
        <p:nvSpPr>
          <p:cNvPr id="6" name="Body 1"/>
          <p:cNvSpPr/>
          <p:nvPr/>
        </p:nvSpPr>
        <p:spPr>
          <a:xfrm>
            <a:off x="762000" y="4248150"/>
            <a:ext cx="10687050" cy="563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Jetson Thor se nalazi na vrhu Jetson serije i predstavlja najmoćniju NVIDIA Edge AI platformu. Donosi generacijski skok u performansama u odnosu na Orin, posebno u domeni generativne umjetne inteligencije.
Jetson Thor je predstavljen kao "Ultimate Platform for Physical AI" zbog svojih specifičnih hardverskih poboljšanja. Njegovo mjesto u Jetson liniji je na samom vrhu, pružajući neophodnu računarsku snagu za obradu podataka iz više senzora, pokretanje velikih vizualno-jezičnih modela i brze autonomne odluke koje su ključne za funkcionisanje humanoidnih robota i vozila sa Level 4 autonomijom
SoM je gotova hardverska jedinica koja integriše SoC čip zajedno s neophodnom DRAM memorijom, skladištem i I/O interfejsima na jednu ploču. Proizvođač isporučuje Jetson Thor kao SoM radi pojednostavljenja implementacije i brže integracije u ciljane robotske sisteme.
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33400" y="1047750"/>
            <a:ext cx="8420100" cy="8191500"/>
          </a:xfrm>
          <a:prstGeom prst="rect">
            <a:avLst/>
          </a:prstGeom>
        </p:spPr>
      </p:pic>
      <p:pic>
        <p:nvPicPr>
          <p:cNvPr id="3" name="Bars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90750" y="9677400"/>
            <a:ext cx="13906500" cy="228600"/>
          </a:xfrm>
          <a:prstGeom prst="rect">
            <a:avLst/>
          </a:prstGeom>
        </p:spPr>
      </p:pic>
      <p:sp>
        <p:nvSpPr>
          <p:cNvPr id="4" name="Arhitektura"/>
          <p:cNvSpPr/>
          <p:nvPr/>
        </p:nvSpPr>
        <p:spPr>
          <a:xfrm>
            <a:off x="3448050" y="4924425"/>
            <a:ext cx="2247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333"/>
              </a:lnSpc>
              <a:buNone/>
            </a:pPr>
            <a:r>
              <a:rPr lang="en-US" sz="3200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Arhitektura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5" name="Grace CPU"/>
          <p:cNvSpPr/>
          <p:nvPr/>
        </p:nvSpPr>
        <p:spPr>
          <a:xfrm>
            <a:off x="752475" y="3017230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894" kern="0" spc="-75" dirty="0">
                <a:solidFill>
                  <a:srgbClr val="BCC0C5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Grace CPU</a:t>
            </a:r>
            <a:endParaRPr lang="en-US" sz="1894" dirty="0"/>
          </a:p>
        </p:txBody>
      </p:sp>
      <p:sp>
        <p:nvSpPr>
          <p:cNvPr id="6" name="Blackwell GPU"/>
          <p:cNvSpPr/>
          <p:nvPr/>
        </p:nvSpPr>
        <p:spPr>
          <a:xfrm>
            <a:off x="7142513" y="301723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894" kern="0" spc="-75" dirty="0">
                <a:solidFill>
                  <a:srgbClr val="BCC0C5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Blackwell GPU</a:t>
            </a:r>
            <a:endParaRPr lang="en-US" sz="1894" dirty="0"/>
          </a:p>
        </p:txBody>
      </p:sp>
      <p:sp>
        <p:nvSpPr>
          <p:cNvPr id="7" name="Transformer Engine"/>
          <p:cNvSpPr/>
          <p:nvPr/>
        </p:nvSpPr>
        <p:spPr>
          <a:xfrm>
            <a:off x="581025" y="6869312"/>
            <a:ext cx="14382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894" kern="0" spc="-75" dirty="0">
                <a:solidFill>
                  <a:srgbClr val="BCC0C5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Transformer
Engine</a:t>
            </a:r>
            <a:endParaRPr lang="en-US" sz="1894" dirty="0"/>
          </a:p>
        </p:txBody>
      </p:sp>
      <p:sp>
        <p:nvSpPr>
          <p:cNvPr id="8" name="Tensor Cores"/>
          <p:cNvSpPr/>
          <p:nvPr/>
        </p:nvSpPr>
        <p:spPr>
          <a:xfrm>
            <a:off x="7142513" y="7002662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894" kern="0" spc="-75" dirty="0">
                <a:solidFill>
                  <a:srgbClr val="BCC0C5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Tensor Cores</a:t>
            </a:r>
            <a:endParaRPr lang="en-US" sz="1894" dirty="0"/>
          </a:p>
        </p:txBody>
      </p:sp>
      <p:sp>
        <p:nvSpPr>
          <p:cNvPr id="9" name="Subheading"/>
          <p:cNvSpPr/>
          <p:nvPr/>
        </p:nvSpPr>
        <p:spPr>
          <a:xfrm>
            <a:off x="10763250" y="2328863"/>
            <a:ext cx="5476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73777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KLJUČNE INOVACIJE</a:t>
            </a:r>
            <a:endParaRPr lang="en-US" sz="2100" dirty="0"/>
          </a:p>
        </p:txBody>
      </p:sp>
      <p:sp>
        <p:nvSpPr>
          <p:cNvPr id="10" name="Jetson Thor"/>
          <p:cNvSpPr/>
          <p:nvPr/>
        </p:nvSpPr>
        <p:spPr>
          <a:xfrm>
            <a:off x="10763250" y="2881313"/>
            <a:ext cx="53530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Jetson Thor</a:t>
            </a:r>
            <a:endParaRPr lang="en-US" sz="4800" b="1">
              <a:ea typeface="Inter Semi Bold"/>
              <a:cs typeface="Calibri"/>
            </a:endParaRPr>
          </a:p>
        </p:txBody>
      </p:sp>
      <p:sp>
        <p:nvSpPr>
          <p:cNvPr id="11" name="Grace CPU Blackwell GPU i Transformer Engine zajedno omoguavaju pokretanje najnovijih LLM VLM i multimodalnih modela Ovaj dizajn ini Thor pogodnim za sloenu robotiku i sistemske operacije u realnom vremenu"/>
          <p:cNvSpPr/>
          <p:nvPr/>
        </p:nvSpPr>
        <p:spPr>
          <a:xfrm>
            <a:off x="10763250" y="3995738"/>
            <a:ext cx="5353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Grace CPU, Blackwell GPU i Transformer Engine zajedno omogućavaju pokretanje najnovijih LLM, VLM i multimodalnih modela. Ovaj dizajn čini Thor pogodnim za složenu robotiku i sistemske operacije u realnom vremenu.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BECFC1-E176-02F8-F32B-D0454C4F8D40}"/>
              </a:ext>
            </a:extLst>
          </p:cNvPr>
          <p:cNvSpPr/>
          <p:nvPr/>
        </p:nvSpPr>
        <p:spPr>
          <a:xfrm>
            <a:off x="1867889" y="2326820"/>
            <a:ext cx="5486548" cy="5462649"/>
          </a:xfrm>
          <a:custGeom>
            <a:avLst/>
            <a:gdLst>
              <a:gd name="csX0" fmla="*/ 0 w 5486548"/>
              <a:gd name="csY0" fmla="*/ 2731325 h 5462649"/>
              <a:gd name="csX1" fmla="*/ 2743274 w 5486548"/>
              <a:gd name="csY1" fmla="*/ 0 h 5462649"/>
              <a:gd name="csX2" fmla="*/ 5486548 w 5486548"/>
              <a:gd name="csY2" fmla="*/ 2731325 h 5462649"/>
              <a:gd name="csX3" fmla="*/ 2743274 w 5486548"/>
              <a:gd name="csY3" fmla="*/ 5462650 h 5462649"/>
              <a:gd name="csX4" fmla="*/ 0 w 5486548"/>
              <a:gd name="csY4" fmla="*/ 2731325 h 5462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486548" h="5462649" extrusionOk="0">
                <a:moveTo>
                  <a:pt x="0" y="2731325"/>
                </a:moveTo>
                <a:cubicBezTo>
                  <a:pt x="-45977" y="1078530"/>
                  <a:pt x="804295" y="36501"/>
                  <a:pt x="2743274" y="0"/>
                </a:cubicBezTo>
                <a:cubicBezTo>
                  <a:pt x="4111733" y="204245"/>
                  <a:pt x="5332977" y="1061434"/>
                  <a:pt x="5486548" y="2731325"/>
                </a:cubicBezTo>
                <a:cubicBezTo>
                  <a:pt x="5620474" y="4466187"/>
                  <a:pt x="4290640" y="5471355"/>
                  <a:pt x="2743274" y="5462650"/>
                </a:cubicBezTo>
                <a:cubicBezTo>
                  <a:pt x="1119665" y="5537987"/>
                  <a:pt x="-91202" y="4157730"/>
                  <a:pt x="0" y="2731325"/>
                </a:cubicBezTo>
                <a:close/>
              </a:path>
            </a:pathLst>
          </a:custGeom>
          <a:solidFill>
            <a:srgbClr val="44A31F">
              <a:alpha val="24000"/>
            </a:srgbClr>
          </a:solidFill>
          <a:ln w="57150">
            <a:solidFill>
              <a:srgbClr val="00B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0332DD-307A-DF5D-BB6A-70DEB8F81345}"/>
              </a:ext>
            </a:extLst>
          </p:cNvPr>
          <p:cNvSpPr/>
          <p:nvPr/>
        </p:nvSpPr>
        <p:spPr>
          <a:xfrm>
            <a:off x="1296389" y="2054677"/>
            <a:ext cx="5784272" cy="5748399"/>
          </a:xfrm>
          <a:custGeom>
            <a:avLst/>
            <a:gdLst>
              <a:gd name="csX0" fmla="*/ 0 w 5784272"/>
              <a:gd name="csY0" fmla="*/ 2874200 h 5748399"/>
              <a:gd name="csX1" fmla="*/ 2892136 w 5784272"/>
              <a:gd name="csY1" fmla="*/ 0 h 5748399"/>
              <a:gd name="csX2" fmla="*/ 5784272 w 5784272"/>
              <a:gd name="csY2" fmla="*/ 2874200 h 5748399"/>
              <a:gd name="csX3" fmla="*/ 2892136 w 5784272"/>
              <a:gd name="csY3" fmla="*/ 5748400 h 5748399"/>
              <a:gd name="csX4" fmla="*/ 0 w 5784272"/>
              <a:gd name="csY4" fmla="*/ 2874200 h 5748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84272" h="5748399" extrusionOk="0">
                <a:moveTo>
                  <a:pt x="0" y="2874200"/>
                </a:moveTo>
                <a:cubicBezTo>
                  <a:pt x="-120652" y="908082"/>
                  <a:pt x="1019899" y="23675"/>
                  <a:pt x="2892136" y="0"/>
                </a:cubicBezTo>
                <a:cubicBezTo>
                  <a:pt x="4286660" y="282471"/>
                  <a:pt x="5630615" y="1125310"/>
                  <a:pt x="5784272" y="2874200"/>
                </a:cubicBezTo>
                <a:cubicBezTo>
                  <a:pt x="5865621" y="4599092"/>
                  <a:pt x="4623632" y="5784574"/>
                  <a:pt x="2892136" y="5748400"/>
                </a:cubicBezTo>
                <a:cubicBezTo>
                  <a:pt x="1201398" y="5813266"/>
                  <a:pt x="-52286" y="4414530"/>
                  <a:pt x="0" y="2874200"/>
                </a:cubicBezTo>
                <a:close/>
              </a:path>
            </a:pathLst>
          </a:custGeom>
          <a:noFill/>
          <a:ln w="28575">
            <a:solidFill>
              <a:srgbClr val="4472C4">
                <a:alpha val="26000"/>
              </a:srgb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4997B5-C765-DC90-EB18-E980971AAE7F}"/>
              </a:ext>
            </a:extLst>
          </p:cNvPr>
          <p:cNvSpPr/>
          <p:nvPr/>
        </p:nvSpPr>
        <p:spPr>
          <a:xfrm>
            <a:off x="1867888" y="2041069"/>
            <a:ext cx="5784272" cy="5748399"/>
          </a:xfrm>
          <a:custGeom>
            <a:avLst/>
            <a:gdLst>
              <a:gd name="csX0" fmla="*/ 0 w 5784272"/>
              <a:gd name="csY0" fmla="*/ 2874200 h 5748399"/>
              <a:gd name="csX1" fmla="*/ 2892136 w 5784272"/>
              <a:gd name="csY1" fmla="*/ 0 h 5748399"/>
              <a:gd name="csX2" fmla="*/ 5784272 w 5784272"/>
              <a:gd name="csY2" fmla="*/ 2874200 h 5748399"/>
              <a:gd name="csX3" fmla="*/ 2892136 w 5784272"/>
              <a:gd name="csY3" fmla="*/ 5748400 h 5748399"/>
              <a:gd name="csX4" fmla="*/ 0 w 5784272"/>
              <a:gd name="csY4" fmla="*/ 2874200 h 5748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84272" h="5748399" extrusionOk="0">
                <a:moveTo>
                  <a:pt x="0" y="2874200"/>
                </a:moveTo>
                <a:cubicBezTo>
                  <a:pt x="-80475" y="1034204"/>
                  <a:pt x="916632" y="32567"/>
                  <a:pt x="2892136" y="0"/>
                </a:cubicBezTo>
                <a:cubicBezTo>
                  <a:pt x="4363019" y="176091"/>
                  <a:pt x="5741132" y="1241477"/>
                  <a:pt x="5784272" y="2874200"/>
                </a:cubicBezTo>
                <a:cubicBezTo>
                  <a:pt x="6023454" y="4865899"/>
                  <a:pt x="4658627" y="5794005"/>
                  <a:pt x="2892136" y="5748400"/>
                </a:cubicBezTo>
                <a:cubicBezTo>
                  <a:pt x="1097909" y="5885096"/>
                  <a:pt x="-167687" y="4310692"/>
                  <a:pt x="0" y="2874200"/>
                </a:cubicBezTo>
                <a:close/>
              </a:path>
            </a:pathLst>
          </a:custGeom>
          <a:noFill/>
          <a:ln w="12700">
            <a:solidFill>
              <a:srgbClr val="FF0000">
                <a:alpha val="35000"/>
              </a:srgb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499211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llet 0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2000" y="2305050"/>
            <a:ext cx="6972300" cy="1457325"/>
          </a:xfrm>
          <a:prstGeom prst="rect">
            <a:avLst/>
          </a:prstGeom>
        </p:spPr>
      </p:pic>
      <p:pic>
        <p:nvPicPr>
          <p:cNvPr id="3" name="Bullet 0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2000" y="4162425"/>
            <a:ext cx="6972300" cy="1104900"/>
          </a:xfrm>
          <a:prstGeom prst="rect">
            <a:avLst/>
          </a:prstGeom>
        </p:spPr>
      </p:pic>
      <p:pic>
        <p:nvPicPr>
          <p:cNvPr id="4" name="Bullet 0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62000" y="5667375"/>
            <a:ext cx="6972300" cy="1457325"/>
          </a:xfrm>
          <a:prstGeom prst="rect">
            <a:avLst/>
          </a:prstGeom>
        </p:spPr>
      </p:pic>
      <p:sp>
        <p:nvSpPr>
          <p:cNvPr id="5" name="Subheading"/>
          <p:cNvSpPr/>
          <p:nvPr/>
        </p:nvSpPr>
        <p:spPr>
          <a:xfrm>
            <a:off x="762000" y="762000"/>
            <a:ext cx="7153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73777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PRIMJENA</a:t>
            </a:r>
            <a:endParaRPr lang="en-US" sz="2100" dirty="0"/>
          </a:p>
        </p:txBody>
      </p:sp>
      <p:sp>
        <p:nvSpPr>
          <p:cNvPr id="6" name="Heading"/>
          <p:cNvSpPr/>
          <p:nvPr/>
        </p:nvSpPr>
        <p:spPr>
          <a:xfrm>
            <a:off x="762000" y="1238250"/>
            <a:ext cx="69913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Sistemi na čipu</a:t>
            </a:r>
            <a:endParaRPr lang="en-US" sz="4800" b="1">
              <a:ea typeface="Inter Semi Bold"/>
              <a:cs typeface="Calibri"/>
            </a:endParaRPr>
          </a:p>
        </p:txBody>
      </p:sp>
      <p:sp>
        <p:nvSpPr>
          <p:cNvPr id="7" name="Subheading"/>
          <p:cNvSpPr/>
          <p:nvPr/>
        </p:nvSpPr>
        <p:spPr>
          <a:xfrm>
            <a:off x="990600" y="23050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Heterogena integracija</a:t>
            </a:r>
            <a:endParaRPr lang="en-US" sz="2100" b="1">
              <a:ea typeface="Inter Semi Bold"/>
              <a:cs typeface="Calibri"/>
            </a:endParaRPr>
          </a:p>
        </p:txBody>
      </p:sp>
      <p:sp>
        <p:nvSpPr>
          <p:cNvPr id="8" name="Paragraph"/>
          <p:cNvSpPr/>
          <p:nvPr/>
        </p:nvSpPr>
        <p:spPr>
          <a:xfrm>
            <a:off x="990600" y="2705100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Umjesto oslanjanja samo na CPU ili GPU, Jetson Thor SoC integriše raznovrsan skup specijalizovanih procesorskih jezgri</a:t>
            </a:r>
            <a:endParaRPr lang="en-US" sz="2100" dirty="0"/>
          </a:p>
        </p:txBody>
      </p:sp>
      <p:sp>
        <p:nvSpPr>
          <p:cNvPr id="9" name="Subheading"/>
          <p:cNvSpPr/>
          <p:nvPr/>
        </p:nvSpPr>
        <p:spPr>
          <a:xfrm>
            <a:off x="990600" y="416242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Energetska efikasnost i performanse (PPW)</a:t>
            </a:r>
            <a:endParaRPr lang="en-US" sz="2100" b="1" dirty="0"/>
          </a:p>
        </p:txBody>
      </p:sp>
      <p:sp>
        <p:nvSpPr>
          <p:cNvPr id="10" name="Paragraph"/>
          <p:cNvSpPr/>
          <p:nvPr/>
        </p:nvSpPr>
        <p:spPr>
          <a:xfrm>
            <a:off x="990600" y="4562475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Dizajniran da pruži maksimalnu snagu po vatu, kritično za robote koji rade na baterije</a:t>
            </a:r>
            <a:endParaRPr lang="en-US" sz="2100" dirty="0"/>
          </a:p>
        </p:txBody>
      </p:sp>
      <p:sp>
        <p:nvSpPr>
          <p:cNvPr id="11" name="Subheading"/>
          <p:cNvSpPr/>
          <p:nvPr/>
        </p:nvSpPr>
        <p:spPr>
          <a:xfrm>
            <a:off x="990600" y="566737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Masivna</a:t>
            </a: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21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ulazno-izlazna</a:t>
            </a: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21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propusnost</a:t>
            </a:r>
            <a:endParaRPr lang="en-US" sz="2100" b="1" dirty="0" err="1">
              <a:latin typeface="Inter Semi Bold"/>
              <a:ea typeface="Inter Semi Bold"/>
              <a:cs typeface="Calibri"/>
            </a:endParaRPr>
          </a:p>
        </p:txBody>
      </p:sp>
      <p:sp>
        <p:nvSpPr>
          <p:cNvPr id="12" name="Paragraph"/>
          <p:cNvSpPr/>
          <p:nvPr/>
        </p:nvSpPr>
        <p:spPr>
          <a:xfrm>
            <a:off x="990600" y="6067425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 Za Fizičku AI, potrebno je istovremeno obrađivati podatke s velikog broja senzora (kamera, LiDAR, radar).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vidia-jetson-thor-module-components-png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" y="1323975"/>
            <a:ext cx="16783050" cy="8201025"/>
          </a:xfrm>
          <a:prstGeom prst="rect">
            <a:avLst/>
          </a:prstGeom>
        </p:spPr>
      </p:pic>
      <p:sp>
        <p:nvSpPr>
          <p:cNvPr id="3" name="Heading"/>
          <p:cNvSpPr/>
          <p:nvPr/>
        </p:nvSpPr>
        <p:spPr>
          <a:xfrm>
            <a:off x="762000" y="762000"/>
            <a:ext cx="153543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3150" b="1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Prikaz arhitekture Jetson Thor modula</a:t>
            </a:r>
            <a:endParaRPr lang="en-US" sz="3150" b="1">
              <a:ea typeface="Inter Semi Bold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2000" y="1143000"/>
            <a:ext cx="5038725" cy="476250"/>
          </a:xfrm>
          <a:prstGeom prst="rect">
            <a:avLst/>
          </a:prstGeom>
        </p:spPr>
      </p:pic>
      <p:sp>
        <p:nvSpPr>
          <p:cNvPr id="3" name="Text"/>
          <p:cNvSpPr/>
          <p:nvPr/>
        </p:nvSpPr>
        <p:spPr>
          <a:xfrm>
            <a:off x="1009650" y="1202871"/>
            <a:ext cx="4552950" cy="35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333"/>
              </a:lnSpc>
              <a:buNone/>
            </a:pPr>
            <a:r>
              <a:rPr lang="en-US" sz="2700" b="1" kern="0" spc="-75" dirty="0">
                <a:solidFill>
                  <a:srgbClr val="000000"/>
                </a:solidFill>
                <a:latin typeface="Inter Semi Bold"/>
                <a:ea typeface="Inter Semi Bold"/>
                <a:cs typeface="Inter Semi Bold" pitchFamily="34" charset="-120"/>
              </a:rPr>
              <a:t>Grace CPU + Blackwell GPU</a:t>
            </a:r>
            <a:endParaRPr lang="en-US" sz="2700" b="1">
              <a:latin typeface="Inter Semi Bold"/>
              <a:ea typeface="Inter Semi Bold"/>
              <a:cs typeface="Calibri"/>
            </a:endParaRPr>
          </a:p>
        </p:txBody>
      </p:sp>
      <p:sp>
        <p:nvSpPr>
          <p:cNvPr id="4" name="Heading"/>
          <p:cNvSpPr/>
          <p:nvPr/>
        </p:nvSpPr>
        <p:spPr>
          <a:xfrm>
            <a:off x="762000" y="2400300"/>
            <a:ext cx="107823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Napredni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ARM Neoverse CPU</a:t>
            </a:r>
            <a:endParaRPr lang="en-US" sz="3000" b="1">
              <a:solidFill>
                <a:srgbClr val="000000"/>
              </a:solidFill>
              <a:latin typeface="Inter Semi Bold"/>
              <a:ea typeface="Inter Semi Bold"/>
              <a:cs typeface="Inter Semi Bold" pitchFamily="34" charset="-120"/>
            </a:endParaRPr>
          </a:p>
          <a:p>
            <a:pPr marL="381000" indent="-381000">
              <a:buSzPct val="100000"/>
              <a:buChar char="•"/>
            </a:pP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Blackwell GPU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ogromne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paralelizacije</a:t>
            </a:r>
            <a:endParaRPr lang="en-US" sz="3000" b="1">
              <a:solidFill>
                <a:srgbClr val="000000"/>
              </a:solidFill>
              <a:latin typeface="Calibri"/>
              <a:ea typeface="Inter Semi Bold"/>
              <a:cs typeface="Calibri"/>
            </a:endParaRPr>
          </a:p>
          <a:p>
            <a:pPr marL="381000" indent="-381000" algn="l">
              <a:lnSpc>
                <a:spcPct val="100000"/>
              </a:lnSpc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Ugrađeni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transformer engine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tensor cores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kao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AI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akceleratori</a:t>
            </a:r>
            <a:endParaRPr lang="en-US" sz="3000" b="1">
              <a:latin typeface="Calibri"/>
              <a:ea typeface="Inter Semi Bold"/>
              <a:cs typeface="Calibri"/>
            </a:endParaRPr>
          </a:p>
        </p:txBody>
      </p:sp>
      <p:sp>
        <p:nvSpPr>
          <p:cNvPr id="5" name="Body 1"/>
          <p:cNvSpPr/>
          <p:nvPr/>
        </p:nvSpPr>
        <p:spPr>
          <a:xfrm>
            <a:off x="762000" y="4438650"/>
            <a:ext cx="106870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Grace CPU obavlja napredne logičke i kontrolne zadatke, dok Blackwell GPU pruža ogromnu paralelizaciju za AI proračune. Integrisani Transformer Engine značajno ubrzava moderne modele zasnovane na transformatorima.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E1E731A-CB15-51A0-72AD-6BBE4AEAA041}"/>
                  </a:ext>
                </a:extLst>
              </p14:cNvPr>
              <p14:cNvContentPartPr/>
              <p14:nvPr/>
            </p14:nvContentPartPr>
            <p14:xfrm>
              <a:off x="4890453" y="1415065"/>
              <a:ext cx="14844" cy="14844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E1E731A-CB15-51A0-72AD-6BBE4AEAA0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63097" y="672865"/>
                <a:ext cx="1484400" cy="148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2000" y="1143000"/>
            <a:ext cx="3238500" cy="476250"/>
          </a:xfrm>
          <a:prstGeom prst="rect">
            <a:avLst/>
          </a:prstGeom>
        </p:spPr>
      </p:pic>
      <p:sp>
        <p:nvSpPr>
          <p:cNvPr id="3" name="Text"/>
          <p:cNvSpPr/>
          <p:nvPr/>
        </p:nvSpPr>
        <p:spPr>
          <a:xfrm>
            <a:off x="1019175" y="1175657"/>
            <a:ext cx="2733675" cy="46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333"/>
              </a:lnSpc>
              <a:buNone/>
            </a:pPr>
            <a:r>
              <a:rPr lang="en-US" sz="2700" b="1" kern="0" spc="-75" dirty="0">
                <a:solidFill>
                  <a:srgbClr val="000000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Računarska moć</a:t>
            </a:r>
            <a:endParaRPr lang="en-US" sz="2700" b="1">
              <a:ea typeface="Calibri"/>
              <a:cs typeface="Calibri"/>
            </a:endParaRPr>
          </a:p>
        </p:txBody>
      </p:sp>
      <p:sp>
        <p:nvSpPr>
          <p:cNvPr id="4" name="Heading"/>
          <p:cNvSpPr/>
          <p:nvPr/>
        </p:nvSpPr>
        <p:spPr>
          <a:xfrm>
            <a:off x="762000" y="2400300"/>
            <a:ext cx="107823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•"/>
            </a:pP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Do 800 TOPS,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obrada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više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od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 10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senzora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istovremeno</a:t>
            </a:r>
            <a:endParaRPr lang="en-US" sz="3000" b="1">
              <a:solidFill>
                <a:srgbClr val="000000"/>
              </a:solidFill>
              <a:latin typeface="Calibri" panose="020F0502020204030204"/>
              <a:ea typeface="Inter Semi Bold"/>
              <a:cs typeface="Calibri" panose="020F0502020204030204"/>
            </a:endParaRPr>
          </a:p>
          <a:p>
            <a:pPr marL="381000" indent="-381000">
              <a:buSzPct val="100000"/>
              <a:buChar char="•"/>
            </a:pP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Do 128 GB LPDDR5X, 256-bitni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interfejs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omogućava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brz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protok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podataka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između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GPU, LLM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senzora</a:t>
            </a:r>
            <a:endParaRPr lang="en-US" sz="30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81000" indent="-381000"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Podesivi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raspon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energetske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potrošnje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za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različite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robote</a:t>
            </a:r>
            <a:endParaRPr lang="en-US" sz="30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81000" indent="-381000" algn="l">
              <a:lnSpc>
                <a:spcPct val="100000"/>
              </a:lnSpc>
              <a:buSzPct val="100000"/>
              <a:buChar char="•"/>
            </a:pP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Masivna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podrška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za PCI Express, Ethernet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senzorske</a:t>
            </a:r>
            <a:r>
              <a:rPr lang="en-US" sz="30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 </a:t>
            </a:r>
            <a:r>
              <a:rPr lang="en-US" sz="3000" b="1" kern="0" spc="-75" dirty="0" err="1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interfejse</a:t>
            </a:r>
            <a:endParaRPr lang="en-US" sz="3000" b="1">
              <a:latin typeface="Inter Semi Bold"/>
              <a:ea typeface="Calibri"/>
              <a:cs typeface="Calibri"/>
            </a:endParaRPr>
          </a:p>
        </p:txBody>
      </p:sp>
      <p:sp>
        <p:nvSpPr>
          <p:cNvPr id="5" name="Body 1"/>
          <p:cNvSpPr/>
          <p:nvPr/>
        </p:nvSpPr>
        <p:spPr>
          <a:xfrm>
            <a:off x="762000" y="5353050"/>
            <a:ext cx="106870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Sa do 800+ TOPS i do 128 GB LPDDR5X memorije, Jetson Thor može obrađivati više senzora i kompleksne modele istovremeno. Visoka memorijska propusnost omogućava stabilan rad čak i kod najzahtjevnijih AI zadataka.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llet 0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371725"/>
            <a:ext cx="6972300" cy="1104900"/>
          </a:xfrm>
          <a:prstGeom prst="rect">
            <a:avLst/>
          </a:prstGeom>
        </p:spPr>
      </p:pic>
      <p:pic>
        <p:nvPicPr>
          <p:cNvPr id="3" name="Bullet 0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2000" y="3857625"/>
            <a:ext cx="6972300" cy="1457325"/>
          </a:xfrm>
          <a:prstGeom prst="rect">
            <a:avLst/>
          </a:prstGeom>
        </p:spPr>
      </p:pic>
      <p:pic>
        <p:nvPicPr>
          <p:cNvPr id="4" name="Bullet 0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2000" y="5695950"/>
            <a:ext cx="6972300" cy="1457325"/>
          </a:xfrm>
          <a:prstGeom prst="rect">
            <a:avLst/>
          </a:prstGeom>
        </p:spPr>
      </p:pic>
      <p:pic>
        <p:nvPicPr>
          <p:cNvPr id="5" name="Bullet 0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2000" y="7534275"/>
            <a:ext cx="6972300" cy="1104900"/>
          </a:xfrm>
          <a:prstGeom prst="rect">
            <a:avLst/>
          </a:prstGeom>
        </p:spPr>
      </p:pic>
      <p:pic>
        <p:nvPicPr>
          <p:cNvPr id="6" name="Screenshot from 2025-12-08 12-52-25 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981206" y="1343025"/>
            <a:ext cx="9772650" cy="7543800"/>
          </a:xfrm>
          <a:prstGeom prst="rect">
            <a:avLst/>
          </a:prstGeom>
        </p:spPr>
      </p:pic>
      <p:sp>
        <p:nvSpPr>
          <p:cNvPr id="7" name="Subheading"/>
          <p:cNvSpPr/>
          <p:nvPr/>
        </p:nvSpPr>
        <p:spPr>
          <a:xfrm>
            <a:off x="762000" y="762000"/>
            <a:ext cx="7153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73777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KLJUČNE RAZLIKE</a:t>
            </a:r>
            <a:endParaRPr lang="en-US" sz="2100" dirty="0"/>
          </a:p>
        </p:txBody>
      </p:sp>
      <p:sp>
        <p:nvSpPr>
          <p:cNvPr id="8" name="Heading"/>
          <p:cNvSpPr/>
          <p:nvPr/>
        </p:nvSpPr>
        <p:spPr>
          <a:xfrm>
            <a:off x="762000" y="1238250"/>
            <a:ext cx="69913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Thor vs Orin</a:t>
            </a:r>
            <a:endParaRPr lang="en-US" sz="4800" b="1">
              <a:ea typeface="Inter Semi Bold"/>
              <a:cs typeface="Calibri"/>
            </a:endParaRPr>
          </a:p>
        </p:txBody>
      </p:sp>
      <p:sp>
        <p:nvSpPr>
          <p:cNvPr id="9" name="Subheading"/>
          <p:cNvSpPr/>
          <p:nvPr/>
        </p:nvSpPr>
        <p:spPr>
          <a:xfrm>
            <a:off x="990600" y="237172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Arhitektonski skok</a:t>
            </a:r>
            <a:endParaRPr lang="en-US" sz="2100" b="1">
              <a:ea typeface="Inter Semi Bold"/>
              <a:cs typeface="Calibri"/>
            </a:endParaRPr>
          </a:p>
        </p:txBody>
      </p:sp>
      <p:sp>
        <p:nvSpPr>
          <p:cNvPr id="10" name="Paragraph"/>
          <p:cNvSpPr/>
          <p:nvPr/>
        </p:nvSpPr>
        <p:spPr>
          <a:xfrm>
            <a:off x="990600" y="2771775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Orin Ampere GPU zamijenjen je Blackwell GPU arhtitekturom koja nudi 3x više TOPS</a:t>
            </a:r>
            <a:endParaRPr lang="en-US" sz="2100" dirty="0"/>
          </a:p>
        </p:txBody>
      </p:sp>
      <p:sp>
        <p:nvSpPr>
          <p:cNvPr id="11" name="Subheading"/>
          <p:cNvSpPr/>
          <p:nvPr/>
        </p:nvSpPr>
        <p:spPr>
          <a:xfrm>
            <a:off x="990600" y="385762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Transformer engine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2" name="Paragraph"/>
          <p:cNvSpPr/>
          <p:nvPr/>
        </p:nvSpPr>
        <p:spPr>
          <a:xfrm>
            <a:off x="990600" y="4257675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Najveća razlika je uvođenje namjenskog transformer engina, Thor je dizajniran da efikasno izvršava LLM kao što je ChatGPT</a:t>
            </a:r>
            <a:endParaRPr lang="en-US" sz="2100" dirty="0"/>
          </a:p>
        </p:txBody>
      </p:sp>
      <p:sp>
        <p:nvSpPr>
          <p:cNvPr id="13" name="Subheading"/>
          <p:cNvSpPr/>
          <p:nvPr/>
        </p:nvSpPr>
        <p:spPr>
          <a:xfrm>
            <a:off x="990600" y="56959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Orin revolucionaran za klasičnu robotiku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4" name="Paragraph"/>
          <p:cNvSpPr/>
          <p:nvPr/>
        </p:nvSpPr>
        <p:spPr>
          <a:xfrm>
            <a:off x="990600" y="6096000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Dizajniran za klasičnu robotiku i umjetnu inteligenciju baziranu na konvolucijskim neuronskim mrežama (CNN)</a:t>
            </a:r>
            <a:endParaRPr lang="en-US" sz="2100" dirty="0"/>
          </a:p>
        </p:txBody>
      </p:sp>
      <p:sp>
        <p:nvSpPr>
          <p:cNvPr id="15" name="Subheading"/>
          <p:cNvSpPr/>
          <p:nvPr/>
        </p:nvSpPr>
        <p:spPr>
          <a:xfrm>
            <a:off x="990600" y="753427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Thor dizajniran za novu eru</a:t>
            </a:r>
            <a:endParaRPr lang="en-US" sz="2100" b="1">
              <a:latin typeface="Inter Semi Bold"/>
              <a:ea typeface="Inter Semi Bold"/>
              <a:cs typeface="Calibri"/>
            </a:endParaRPr>
          </a:p>
        </p:txBody>
      </p:sp>
      <p:sp>
        <p:nvSpPr>
          <p:cNvPr id="16" name="Paragraph"/>
          <p:cNvSpPr/>
          <p:nvPr/>
        </p:nvSpPr>
        <p:spPr>
          <a:xfrm>
            <a:off x="990600" y="7934325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Specifično dizajniran s ciljem unaprijeđenja generativne umjetne inteligencije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llet 0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2000" y="2305050"/>
            <a:ext cx="6972300" cy="1457325"/>
          </a:xfrm>
          <a:prstGeom prst="rect">
            <a:avLst/>
          </a:prstGeom>
        </p:spPr>
      </p:pic>
      <p:pic>
        <p:nvPicPr>
          <p:cNvPr id="3" name="Bullet 0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2000" y="4000500"/>
            <a:ext cx="6972300" cy="1457325"/>
          </a:xfrm>
          <a:prstGeom prst="rect">
            <a:avLst/>
          </a:prstGeom>
        </p:spPr>
      </p:pic>
      <p:pic>
        <p:nvPicPr>
          <p:cNvPr id="4" name="Bullet 0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2000" y="5667375"/>
            <a:ext cx="6972300" cy="1457325"/>
          </a:xfrm>
          <a:prstGeom prst="rect">
            <a:avLst/>
          </a:prstGeom>
        </p:spPr>
      </p:pic>
      <p:pic>
        <p:nvPicPr>
          <p:cNvPr id="5" name="Bullet 0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2000" y="7334250"/>
            <a:ext cx="6972300" cy="1457325"/>
          </a:xfrm>
          <a:prstGeom prst="rect">
            <a:avLst/>
          </a:prstGeom>
        </p:spPr>
      </p:pic>
      <p:pic>
        <p:nvPicPr>
          <p:cNvPr id="6" name="Bullet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172700" y="2276475"/>
            <a:ext cx="6972300" cy="1428750"/>
          </a:xfrm>
          <a:prstGeom prst="rect">
            <a:avLst/>
          </a:prstGeom>
        </p:spPr>
      </p:pic>
      <p:pic>
        <p:nvPicPr>
          <p:cNvPr id="7" name="Bullet 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72700" y="3971925"/>
            <a:ext cx="6972300" cy="1104900"/>
          </a:xfrm>
          <a:prstGeom prst="rect">
            <a:avLst/>
          </a:prstGeom>
        </p:spPr>
      </p:pic>
      <p:pic>
        <p:nvPicPr>
          <p:cNvPr id="8" name="Bullet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172700" y="5343525"/>
            <a:ext cx="6972300" cy="1104900"/>
          </a:xfrm>
          <a:prstGeom prst="rect">
            <a:avLst/>
          </a:prstGeom>
        </p:spPr>
      </p:pic>
      <p:pic>
        <p:nvPicPr>
          <p:cNvPr id="9" name="Bullet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0172700" y="6724650"/>
            <a:ext cx="6972300" cy="1104900"/>
          </a:xfrm>
          <a:prstGeom prst="rect">
            <a:avLst/>
          </a:prstGeom>
        </p:spPr>
      </p:pic>
      <p:sp>
        <p:nvSpPr>
          <p:cNvPr id="10" name="Subheading"/>
          <p:cNvSpPr/>
          <p:nvPr/>
        </p:nvSpPr>
        <p:spPr>
          <a:xfrm>
            <a:off x="762000" y="762000"/>
            <a:ext cx="7153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73777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KLJUČNE PREDNOSTI</a:t>
            </a:r>
            <a:endParaRPr lang="en-US" sz="2100" dirty="0"/>
          </a:p>
        </p:txBody>
      </p:sp>
      <p:sp>
        <p:nvSpPr>
          <p:cNvPr id="11" name="Heading"/>
          <p:cNvSpPr/>
          <p:nvPr/>
        </p:nvSpPr>
        <p:spPr>
          <a:xfrm>
            <a:off x="762000" y="1238250"/>
            <a:ext cx="69913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Thor vs Orin</a:t>
            </a:r>
            <a:endParaRPr lang="en-US" sz="4800" b="1">
              <a:ea typeface="Inter Semi Bold"/>
              <a:cs typeface="Calibri"/>
            </a:endParaRPr>
          </a:p>
        </p:txBody>
      </p:sp>
      <p:sp>
        <p:nvSpPr>
          <p:cNvPr id="12" name="Subheading"/>
          <p:cNvSpPr/>
          <p:nvPr/>
        </p:nvSpPr>
        <p:spPr>
          <a:xfrm>
            <a:off x="990600" y="23050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Specijalizovani transformer engine</a:t>
            </a:r>
            <a:endParaRPr lang="en-US" sz="2100" b="1" dirty="0"/>
          </a:p>
        </p:txBody>
      </p:sp>
      <p:sp>
        <p:nvSpPr>
          <p:cNvPr id="13" name="Paragraph"/>
          <p:cNvSpPr/>
          <p:nvPr/>
        </p:nvSpPr>
        <p:spPr>
          <a:xfrm>
            <a:off x="990600" y="2705100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Thor hardverski optimizovan za LLM-ove i multimodalne AI modele, dok Orin uopšte nema posvećene instrukcije za ove zadatke.</a:t>
            </a:r>
            <a:endParaRPr lang="en-US" sz="2100" dirty="0"/>
          </a:p>
        </p:txBody>
      </p:sp>
      <p:sp>
        <p:nvSpPr>
          <p:cNvPr id="14" name="Subheading"/>
          <p:cNvSpPr/>
          <p:nvPr/>
        </p:nvSpPr>
        <p:spPr>
          <a:xfrm>
            <a:off x="990600" y="400050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Multi-Instance GPU (MIG)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5" name="Paragraph"/>
          <p:cNvSpPr/>
          <p:nvPr/>
        </p:nvSpPr>
        <p:spPr>
          <a:xfrm>
            <a:off x="990600" y="4400550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Omogućava dijeljenje GPU-a na izolovane logičke instance. Ovo je ključno za sisteme koji moraju istovremeno pokretati zadatke različitih kritičnosti</a:t>
            </a:r>
            <a:endParaRPr lang="en-US" sz="2100" dirty="0"/>
          </a:p>
        </p:txBody>
      </p:sp>
      <p:sp>
        <p:nvSpPr>
          <p:cNvPr id="16" name="Subheading"/>
          <p:cNvSpPr/>
          <p:nvPr/>
        </p:nvSpPr>
        <p:spPr>
          <a:xfrm>
            <a:off x="990600" y="566737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Osjetno veće AI performanse</a:t>
            </a:r>
            <a:endParaRPr lang="en-US" sz="2100" b="1" dirty="0"/>
          </a:p>
        </p:txBody>
      </p:sp>
      <p:sp>
        <p:nvSpPr>
          <p:cNvPr id="17" name="Paragraph"/>
          <p:cNvSpPr/>
          <p:nvPr/>
        </p:nvSpPr>
        <p:spPr>
          <a:xfrm>
            <a:off x="990600" y="6067425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Skok sa ~275 TOPS na ekvivalent od 800+ TOPS (FP8/FP4) omogućava obradu znatno kompleksnijih modela i većeg broja senzora u realnom vremenu.</a:t>
            </a:r>
            <a:endParaRPr lang="en-US" sz="2100" dirty="0"/>
          </a:p>
        </p:txBody>
      </p:sp>
      <p:sp>
        <p:nvSpPr>
          <p:cNvPr id="18" name="Subheading"/>
          <p:cNvSpPr/>
          <p:nvPr/>
        </p:nvSpPr>
        <p:spPr>
          <a:xfrm>
            <a:off x="990600" y="73342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Dvostruko veća memorija</a:t>
            </a:r>
            <a:endParaRPr lang="en-US" sz="2100" b="1" dirty="0"/>
          </a:p>
        </p:txBody>
      </p:sp>
      <p:sp>
        <p:nvSpPr>
          <p:cNvPr id="19" name="Paragraph"/>
          <p:cNvSpPr/>
          <p:nvPr/>
        </p:nvSpPr>
        <p:spPr>
          <a:xfrm>
            <a:off x="990600" y="7734300"/>
            <a:ext cx="67627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128 GB LPDDR5X čini Thor prvim Jetson modulom sposobnim za pokretanje velikih jezičkih modela direktno na uređaju.</a:t>
            </a:r>
            <a:endParaRPr lang="en-US" sz="2100" dirty="0"/>
          </a:p>
        </p:txBody>
      </p:sp>
      <p:sp>
        <p:nvSpPr>
          <p:cNvPr id="20" name="Subheading"/>
          <p:cNvSpPr/>
          <p:nvPr/>
        </p:nvSpPr>
        <p:spPr>
          <a:xfrm>
            <a:off x="10401300" y="2276475"/>
            <a:ext cx="6762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Nativna podrška za generativnu AI i multimodalne modele</a:t>
            </a:r>
            <a:endParaRPr lang="en-US" sz="2100" b="1" dirty="0"/>
          </a:p>
        </p:txBody>
      </p:sp>
      <p:sp>
        <p:nvSpPr>
          <p:cNvPr id="21" name="Paragraph"/>
          <p:cNvSpPr/>
          <p:nvPr/>
        </p:nvSpPr>
        <p:spPr>
          <a:xfrm>
            <a:off x="10401300" y="3000375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Omogućava obradu teksta, slike i videa direktno na robotu bez potrebe za cloud-om.</a:t>
            </a:r>
            <a:endParaRPr lang="en-US" sz="2100" dirty="0"/>
          </a:p>
        </p:txBody>
      </p:sp>
      <p:sp>
        <p:nvSpPr>
          <p:cNvPr id="22" name="Subheading"/>
          <p:cNvSpPr/>
          <p:nvPr/>
        </p:nvSpPr>
        <p:spPr>
          <a:xfrm>
            <a:off x="10401300" y="397192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FP8 i FP4 preciznosti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23" name="Paragraph"/>
          <p:cNvSpPr/>
          <p:nvPr/>
        </p:nvSpPr>
        <p:spPr>
          <a:xfrm>
            <a:off x="10401300" y="4371975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Omogućavaju mnogo brže izvršavanje velikih modela uz manju potrošnju memorije.</a:t>
            </a:r>
            <a:endParaRPr lang="en-US" sz="2100" dirty="0"/>
          </a:p>
        </p:txBody>
      </p:sp>
      <p:sp>
        <p:nvSpPr>
          <p:cNvPr id="24" name="Subheading"/>
          <p:cNvSpPr/>
          <p:nvPr/>
        </p:nvSpPr>
        <p:spPr>
          <a:xfrm>
            <a:off x="10401300" y="534352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Ogromna paralelna obrada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25" name="Paragraph"/>
          <p:cNvSpPr/>
          <p:nvPr/>
        </p:nvSpPr>
        <p:spPr>
          <a:xfrm>
            <a:off x="10401300" y="5743575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Idealno za humanoidne robote, autonomna vozila i industrijske sisteme sa desetinama senzora.</a:t>
            </a:r>
            <a:endParaRPr lang="en-US" sz="2100" dirty="0"/>
          </a:p>
        </p:txBody>
      </p:sp>
      <p:sp>
        <p:nvSpPr>
          <p:cNvPr id="26" name="Subheading"/>
          <p:cNvSpPr/>
          <p:nvPr/>
        </p:nvSpPr>
        <p:spPr>
          <a:xfrm>
            <a:off x="10401300" y="67246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Povećana propusnost memorije</a:t>
            </a:r>
            <a:endParaRPr lang="en-US" sz="2100" b="1">
              <a:latin typeface="Calibri"/>
              <a:ea typeface="Inter Semi Bold"/>
              <a:cs typeface="Calibri"/>
            </a:endParaRPr>
          </a:p>
        </p:txBody>
      </p:sp>
      <p:sp>
        <p:nvSpPr>
          <p:cNvPr id="27" name="Paragraph"/>
          <p:cNvSpPr/>
          <p:nvPr/>
        </p:nvSpPr>
        <p:spPr>
          <a:xfrm>
            <a:off x="10401300" y="7124700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Smanjuje uska grla kod modela koji rade sa velikim tenzorima.</a:t>
            </a:r>
            <a:endParaRPr lang="en-US" sz="2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llet 0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305050"/>
            <a:ext cx="6972300" cy="1104900"/>
          </a:xfrm>
          <a:prstGeom prst="rect">
            <a:avLst/>
          </a:prstGeom>
        </p:spPr>
      </p:pic>
      <p:pic>
        <p:nvPicPr>
          <p:cNvPr id="3" name="Bullet 0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2000" y="4000500"/>
            <a:ext cx="6972300" cy="1104900"/>
          </a:xfrm>
          <a:prstGeom prst="rect">
            <a:avLst/>
          </a:prstGeom>
        </p:spPr>
      </p:pic>
      <p:pic>
        <p:nvPicPr>
          <p:cNvPr id="4" name="Bullet 0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2000" y="5667375"/>
            <a:ext cx="6972300" cy="1104900"/>
          </a:xfrm>
          <a:prstGeom prst="rect">
            <a:avLst/>
          </a:prstGeom>
        </p:spPr>
      </p:pic>
      <p:pic>
        <p:nvPicPr>
          <p:cNvPr id="5" name="Bullet 0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2000" y="7334250"/>
            <a:ext cx="6972300" cy="1104900"/>
          </a:xfrm>
          <a:prstGeom prst="rect">
            <a:avLst/>
          </a:prstGeom>
        </p:spPr>
      </p:pic>
      <p:sp>
        <p:nvSpPr>
          <p:cNvPr id="6" name="Subheading"/>
          <p:cNvSpPr/>
          <p:nvPr/>
        </p:nvSpPr>
        <p:spPr>
          <a:xfrm>
            <a:off x="762000" y="762000"/>
            <a:ext cx="7153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73777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NEDOSTACI</a:t>
            </a:r>
            <a:endParaRPr lang="en-US" sz="2100" dirty="0"/>
          </a:p>
        </p:txBody>
      </p:sp>
      <p:sp>
        <p:nvSpPr>
          <p:cNvPr id="7" name="Heading"/>
          <p:cNvSpPr/>
          <p:nvPr/>
        </p:nvSpPr>
        <p:spPr>
          <a:xfrm>
            <a:off x="762000" y="1238250"/>
            <a:ext cx="69913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Thor vs Orin</a:t>
            </a:r>
            <a:endParaRPr lang="en-US" sz="4800" b="1">
              <a:ea typeface="Inter Semi Bold"/>
              <a:cs typeface="Calibri"/>
            </a:endParaRPr>
          </a:p>
        </p:txBody>
      </p:sp>
      <p:sp>
        <p:nvSpPr>
          <p:cNvPr id="8" name="Subheading"/>
          <p:cNvSpPr/>
          <p:nvPr/>
        </p:nvSpPr>
        <p:spPr>
          <a:xfrm>
            <a:off x="990600" y="23050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Visoka potrošnja energije</a:t>
            </a:r>
            <a:endParaRPr lang="en-US" sz="2100" b="1">
              <a:ea typeface="Inter Semi Bold"/>
              <a:cs typeface="Calibri"/>
            </a:endParaRPr>
          </a:p>
        </p:txBody>
      </p:sp>
      <p:sp>
        <p:nvSpPr>
          <p:cNvPr id="9" name="Paragraph"/>
          <p:cNvSpPr/>
          <p:nvPr/>
        </p:nvSpPr>
        <p:spPr>
          <a:xfrm>
            <a:off x="990600" y="2705100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Zahtijeva 75–120 W za punu efikasnost, što ga cini neadekvatnim za male baterijske uređaje.</a:t>
            </a:r>
            <a:endParaRPr lang="en-US" sz="2100" dirty="0"/>
          </a:p>
        </p:txBody>
      </p:sp>
      <p:sp>
        <p:nvSpPr>
          <p:cNvPr id="10" name="Subheading"/>
          <p:cNvSpPr/>
          <p:nvPr/>
        </p:nvSpPr>
        <p:spPr>
          <a:xfrm>
            <a:off x="990600" y="400050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Znatno veći termalni zahtjevi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1" name="Paragraph"/>
          <p:cNvSpPr/>
          <p:nvPr/>
        </p:nvSpPr>
        <p:spPr>
          <a:xfrm>
            <a:off x="990600" y="4400550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Potrebni su aktivno hlađenje, masivniji hladnjaci i stabilna napojna jedinica.</a:t>
            </a:r>
            <a:endParaRPr lang="en-US" sz="2100" dirty="0"/>
          </a:p>
        </p:txBody>
      </p:sp>
      <p:sp>
        <p:nvSpPr>
          <p:cNvPr id="12" name="Subheading"/>
          <p:cNvSpPr/>
          <p:nvPr/>
        </p:nvSpPr>
        <p:spPr>
          <a:xfrm>
            <a:off x="990600" y="566737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Viša cijena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3" name="Paragraph"/>
          <p:cNvSpPr/>
          <p:nvPr/>
        </p:nvSpPr>
        <p:spPr>
          <a:xfrm>
            <a:off x="990600" y="6067425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Predstavlja veliku investiciju, posebno za manje projekte i startup-ove.</a:t>
            </a:r>
            <a:endParaRPr lang="en-US" sz="2100" dirty="0"/>
          </a:p>
        </p:txBody>
      </p:sp>
      <p:sp>
        <p:nvSpPr>
          <p:cNvPr id="14" name="Subheading"/>
          <p:cNvSpPr/>
          <p:nvPr/>
        </p:nvSpPr>
        <p:spPr>
          <a:xfrm>
            <a:off x="990600" y="73342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Hardverska nekompatibilnost unazad</a:t>
            </a:r>
            <a:endParaRPr lang="en-US" sz="2100" b="1">
              <a:latin typeface="Inter Semi Bold"/>
              <a:ea typeface="Inter Semi Bold"/>
              <a:cs typeface="Calibri"/>
            </a:endParaRPr>
          </a:p>
        </p:txBody>
      </p:sp>
      <p:sp>
        <p:nvSpPr>
          <p:cNvPr id="15" name="Paragraph"/>
          <p:cNvSpPr/>
          <p:nvPr/>
        </p:nvSpPr>
        <p:spPr>
          <a:xfrm>
            <a:off x="990600" y="7734300"/>
            <a:ext cx="6762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 zahtijeva nove carrier board-ove i napajanja, pa se ne može jednostavno ubaciti u postojeće Orin sisteme.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llet 0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2000" y="2371725"/>
            <a:ext cx="6972300" cy="323850"/>
          </a:xfrm>
          <a:prstGeom prst="rect">
            <a:avLst/>
          </a:prstGeom>
        </p:spPr>
      </p:pic>
      <p:pic>
        <p:nvPicPr>
          <p:cNvPr id="3" name="Bullet 0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2000" y="3048000"/>
            <a:ext cx="6972300" cy="323850"/>
          </a:xfrm>
          <a:prstGeom prst="rect">
            <a:avLst/>
          </a:prstGeom>
        </p:spPr>
      </p:pic>
      <p:pic>
        <p:nvPicPr>
          <p:cNvPr id="4" name="Bullet 0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62000" y="3724275"/>
            <a:ext cx="6972300" cy="323850"/>
          </a:xfrm>
          <a:prstGeom prst="rect">
            <a:avLst/>
          </a:prstGeom>
        </p:spPr>
      </p:pic>
      <p:pic>
        <p:nvPicPr>
          <p:cNvPr id="5" name="Bullet 0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62000" y="4400550"/>
            <a:ext cx="6972300" cy="323850"/>
          </a:xfrm>
          <a:prstGeom prst="rect">
            <a:avLst/>
          </a:prstGeom>
        </p:spPr>
      </p:pic>
      <p:pic>
        <p:nvPicPr>
          <p:cNvPr id="6" name="Screenshot from 2025-12-08 12-52-25 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981206" y="1343025"/>
            <a:ext cx="9772650" cy="7543800"/>
          </a:xfrm>
          <a:prstGeom prst="rect">
            <a:avLst/>
          </a:prstGeom>
        </p:spPr>
      </p:pic>
      <p:sp>
        <p:nvSpPr>
          <p:cNvPr id="7" name="Subheading"/>
          <p:cNvSpPr/>
          <p:nvPr/>
        </p:nvSpPr>
        <p:spPr>
          <a:xfrm>
            <a:off x="762000" y="762000"/>
            <a:ext cx="7153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73777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PRIMJENA</a:t>
            </a:r>
            <a:endParaRPr lang="en-US" sz="2100" dirty="0"/>
          </a:p>
        </p:txBody>
      </p:sp>
      <p:sp>
        <p:nvSpPr>
          <p:cNvPr id="8" name="Heading"/>
          <p:cNvSpPr/>
          <p:nvPr/>
        </p:nvSpPr>
        <p:spPr>
          <a:xfrm>
            <a:off x="762000" y="1238250"/>
            <a:ext cx="69913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Primjena Thor modula</a:t>
            </a:r>
            <a:endParaRPr lang="en-US" sz="4800" b="1">
              <a:ea typeface="Inter Semi Bold"/>
              <a:cs typeface="Calibri"/>
            </a:endParaRPr>
          </a:p>
        </p:txBody>
      </p:sp>
      <p:sp>
        <p:nvSpPr>
          <p:cNvPr id="9" name="Subheading"/>
          <p:cNvSpPr/>
          <p:nvPr/>
        </p:nvSpPr>
        <p:spPr>
          <a:xfrm>
            <a:off x="990600" y="237172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Humanoidna robotika</a:t>
            </a:r>
            <a:endParaRPr lang="en-US" sz="2100" b="1">
              <a:ea typeface="Inter Semi Bold"/>
              <a:cs typeface="Calibri"/>
            </a:endParaRPr>
          </a:p>
        </p:txBody>
      </p:sp>
      <p:sp>
        <p:nvSpPr>
          <p:cNvPr id="10" name="Subheading"/>
          <p:cNvSpPr/>
          <p:nvPr/>
        </p:nvSpPr>
        <p:spPr>
          <a:xfrm>
            <a:off x="990600" y="304800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Autonomna industrijska vozila</a:t>
            </a:r>
            <a:endParaRPr lang="en-US" sz="2100" b="1">
              <a:latin typeface="Calibri"/>
              <a:ea typeface="Calibri"/>
              <a:cs typeface="Calibri"/>
            </a:endParaRPr>
          </a:p>
        </p:txBody>
      </p:sp>
      <p:sp>
        <p:nvSpPr>
          <p:cNvPr id="11" name="Subheading"/>
          <p:cNvSpPr/>
          <p:nvPr/>
        </p:nvSpPr>
        <p:spPr>
          <a:xfrm>
            <a:off x="990600" y="3724275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Zdravstvo, logistika i proizvodnja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2" name="Subheading"/>
          <p:cNvSpPr/>
          <p:nvPr/>
        </p:nvSpPr>
        <p:spPr>
          <a:xfrm>
            <a:off x="990600" y="44005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Real-time multimodalna analiza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3" name="Paragraph 3"/>
          <p:cNvSpPr/>
          <p:nvPr/>
        </p:nvSpPr>
        <p:spPr>
          <a:xfrm>
            <a:off x="762000" y="5334000"/>
            <a:ext cx="6029325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Jetson Thor je posebno dizajniran za humanoidne robote koji koriste vizualne i jezičke modele za interakciju s ljudima. Pored toga koristi se u autonomnim vozilima, industrijskim robotima, logističkim sistemima i naprednim AI aplikacijama.“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llet 0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305050"/>
            <a:ext cx="6972300" cy="2162175"/>
          </a:xfrm>
          <a:prstGeom prst="rect">
            <a:avLst/>
          </a:prstGeom>
        </p:spPr>
      </p:pic>
      <p:pic>
        <p:nvPicPr>
          <p:cNvPr id="3" name="Bullet 0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724900" y="2305050"/>
            <a:ext cx="6972300" cy="3543300"/>
          </a:xfrm>
          <a:prstGeom prst="rect">
            <a:avLst/>
          </a:prstGeom>
        </p:spPr>
      </p:pic>
      <p:pic>
        <p:nvPicPr>
          <p:cNvPr id="4" name="Bullet 0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2000" y="4724400"/>
            <a:ext cx="6972300" cy="2514600"/>
          </a:xfrm>
          <a:prstGeom prst="rect">
            <a:avLst/>
          </a:prstGeom>
        </p:spPr>
      </p:pic>
      <p:pic>
        <p:nvPicPr>
          <p:cNvPr id="5" name="Bullet 0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2000" y="7334250"/>
            <a:ext cx="6972300" cy="2514600"/>
          </a:xfrm>
          <a:prstGeom prst="rect">
            <a:avLst/>
          </a:prstGeom>
        </p:spPr>
      </p:pic>
      <p:pic>
        <p:nvPicPr>
          <p:cNvPr id="6" name="Bullet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724900" y="5981700"/>
            <a:ext cx="6972300" cy="1809750"/>
          </a:xfrm>
          <a:prstGeom prst="rect">
            <a:avLst/>
          </a:prstGeom>
        </p:spPr>
      </p:pic>
      <p:pic>
        <p:nvPicPr>
          <p:cNvPr id="7" name="Bullet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724900" y="7924800"/>
            <a:ext cx="6972300" cy="2162175"/>
          </a:xfrm>
          <a:prstGeom prst="rect">
            <a:avLst/>
          </a:prstGeom>
        </p:spPr>
      </p:pic>
      <p:sp>
        <p:nvSpPr>
          <p:cNvPr id="8" name="Subheading"/>
          <p:cNvSpPr/>
          <p:nvPr/>
        </p:nvSpPr>
        <p:spPr>
          <a:xfrm>
            <a:off x="762000" y="762000"/>
            <a:ext cx="7153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73777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KLJUČNE PRIMJENE</a:t>
            </a:r>
            <a:endParaRPr lang="en-US" sz="2100" dirty="0"/>
          </a:p>
        </p:txBody>
      </p:sp>
      <p:sp>
        <p:nvSpPr>
          <p:cNvPr id="9" name="Heading"/>
          <p:cNvSpPr/>
          <p:nvPr/>
        </p:nvSpPr>
        <p:spPr>
          <a:xfrm>
            <a:off x="762000" y="1238250"/>
            <a:ext cx="69913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Fizički AI i robotika</a:t>
            </a:r>
            <a:endParaRPr lang="en-US" sz="4800" b="1">
              <a:ea typeface="Inter Semi Bold"/>
              <a:cs typeface="Calibri"/>
            </a:endParaRPr>
          </a:p>
        </p:txBody>
      </p:sp>
      <p:sp>
        <p:nvSpPr>
          <p:cNvPr id="10" name="Subheading"/>
          <p:cNvSpPr/>
          <p:nvPr/>
        </p:nvSpPr>
        <p:spPr>
          <a:xfrm>
            <a:off x="990600" y="23050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Napredno prepoznavanje i fuzija senzora</a:t>
            </a:r>
            <a:endParaRPr lang="en-US" sz="2100" b="1">
              <a:ea typeface="Inter Semi Bold"/>
              <a:cs typeface="Calibri"/>
            </a:endParaRPr>
          </a:p>
        </p:txBody>
      </p:sp>
      <p:sp>
        <p:nvSpPr>
          <p:cNvPr id="11" name="Paragraph"/>
          <p:cNvSpPr/>
          <p:nvPr/>
        </p:nvSpPr>
        <p:spPr>
          <a:xfrm>
            <a:off x="990600" y="2705100"/>
            <a:ext cx="676275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Jetson Thor omogućava napredno prepoznavanje u robotici procesiranjem podataka sa više senzora (npr. kamere, LiDAR, IMU) u realnom vremenu. Ovo je ključno za zadatke kao što su 3D mapiranje, detekcija prepreka i razumijevanje okruženja.</a:t>
            </a:r>
            <a:endParaRPr lang="en-US" sz="2100" dirty="0"/>
          </a:p>
        </p:txBody>
      </p:sp>
      <p:sp>
        <p:nvSpPr>
          <p:cNvPr id="12" name="Subheading"/>
          <p:cNvSpPr/>
          <p:nvPr/>
        </p:nvSpPr>
        <p:spPr>
          <a:xfrm>
            <a:off x="8953500" y="2305050"/>
            <a:ext cx="6762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Kontrola pokreta u realnom vremenu i autonomne akcije</a:t>
            </a:r>
            <a:endParaRPr lang="en-US" sz="2100" b="1">
              <a:latin typeface="Inter Semi Bold"/>
              <a:ea typeface="Inter Semi Bold"/>
              <a:cs typeface="Calibri"/>
            </a:endParaRPr>
          </a:p>
        </p:txBody>
      </p:sp>
      <p:sp>
        <p:nvSpPr>
          <p:cNvPr id="13" name="Paragraph"/>
          <p:cNvSpPr/>
          <p:nvPr/>
        </p:nvSpPr>
        <p:spPr>
          <a:xfrm>
            <a:off x="8953500" y="3028950"/>
            <a:ext cx="6762750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 humanoidnim robotima, Jetson Thor pomaže u obradi podataka sa različitih izvora (kao što su kamere i senzori) i donosi odluke o pokretima, osiguravajući da roboti mogu interagirati sa ljudima i objektima na siguran i efikasan način. Thor pomaže u generiranju odgovora u realnom vremenu na ljudske geste ili promjene u okruženju, omogućavajući robotima da prilagode svoje pokrete i akcije u skladu s tim.</a:t>
            </a:r>
            <a:endParaRPr lang="en-US" sz="2100" dirty="0"/>
          </a:p>
        </p:txBody>
      </p:sp>
      <p:sp>
        <p:nvSpPr>
          <p:cNvPr id="14" name="Subheading"/>
          <p:cNvSpPr/>
          <p:nvPr/>
        </p:nvSpPr>
        <p:spPr>
          <a:xfrm>
            <a:off x="990600" y="472440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Podrška generativnom AI za složene zadatke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5" name="Paragraph"/>
          <p:cNvSpPr/>
          <p:nvPr/>
        </p:nvSpPr>
        <p:spPr>
          <a:xfrm>
            <a:off x="990600" y="5124450"/>
            <a:ext cx="67627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Humanoidni robot pokretan Jetson Thorom može istovremeno pokretati AI modele za prepoznavanje lica, prepoznavanje gestova i donosanje odluka, čineći robota sposobnim za interakcije u realnom vremenu, koje su svesne konteksta.
</a:t>
            </a:r>
            <a:endParaRPr lang="en-US" sz="2100" dirty="0"/>
          </a:p>
        </p:txBody>
      </p:sp>
      <p:sp>
        <p:nvSpPr>
          <p:cNvPr id="16" name="Subheading"/>
          <p:cNvSpPr/>
          <p:nvPr/>
        </p:nvSpPr>
        <p:spPr>
          <a:xfrm>
            <a:off x="990600" y="733425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Industrijske i autonomne robotske aplikacije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7" name="Paragraph"/>
          <p:cNvSpPr/>
          <p:nvPr/>
        </p:nvSpPr>
        <p:spPr>
          <a:xfrm>
            <a:off x="990600" y="7734300"/>
            <a:ext cx="67627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 industrijskim okruženjima, Jetson Thor se koristi za unapređenje sistema automatizacije, poput robotskih ruku, dronova i autonomnih vozila. Autonomni mobilni roboti (AMR) koriste Jetson Thor za planiranje puta i izbjegavanje prepreka, omogućavajući im da efikasno navigiraju kroz fabrike ili skladišta.</a:t>
            </a:r>
            <a:endParaRPr lang="en-US" sz="2100" dirty="0"/>
          </a:p>
        </p:txBody>
      </p:sp>
      <p:sp>
        <p:nvSpPr>
          <p:cNvPr id="18" name="Subheading"/>
          <p:cNvSpPr/>
          <p:nvPr/>
        </p:nvSpPr>
        <p:spPr>
          <a:xfrm>
            <a:off x="8953500" y="598170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 pitchFamily="34" charset="-122"/>
                <a:cs typeface="Inter Semi Bold" pitchFamily="34" charset="-120"/>
              </a:rPr>
              <a:t>Integracija sa robotskim ekosistemom</a:t>
            </a:r>
            <a:endParaRPr lang="en-US" sz="2100" b="1">
              <a:latin typeface="Inter Semi Bold"/>
              <a:ea typeface="Calibri"/>
              <a:cs typeface="Calibri"/>
            </a:endParaRPr>
          </a:p>
        </p:txBody>
      </p:sp>
      <p:sp>
        <p:nvSpPr>
          <p:cNvPr id="19" name="Paragraph"/>
          <p:cNvSpPr/>
          <p:nvPr/>
        </p:nvSpPr>
        <p:spPr>
          <a:xfrm>
            <a:off x="8953500" y="6381750"/>
            <a:ext cx="6762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Jetson Thor se besprijekorno integriše sa NVIDIA-ovom Isaac Robotics platformom, koja nudi kompletan skup alata za izgradnju, simulaciju i implementaciju robota sa AI moći.</a:t>
            </a:r>
            <a:endParaRPr lang="en-US" sz="2100" dirty="0"/>
          </a:p>
        </p:txBody>
      </p:sp>
      <p:sp>
        <p:nvSpPr>
          <p:cNvPr id="20" name="Subheading"/>
          <p:cNvSpPr/>
          <p:nvPr/>
        </p:nvSpPr>
        <p:spPr>
          <a:xfrm>
            <a:off x="8953500" y="7924800"/>
            <a:ext cx="676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75" dirty="0">
                <a:solidFill>
                  <a:srgbClr val="FFFFFF"/>
                </a:solidFill>
                <a:latin typeface="Inter Semi Bold"/>
                <a:ea typeface="Inter Semi Bold"/>
                <a:cs typeface="Inter Semi Bold" pitchFamily="34" charset="-120"/>
              </a:rPr>
              <a:t>Robotika u industrijskoj automatizaciji</a:t>
            </a:r>
            <a:endParaRPr lang="en-US" sz="2100" b="1">
              <a:latin typeface="Inter Semi Bold"/>
              <a:ea typeface="Inter Semi Bold"/>
              <a:cs typeface="Calibri"/>
            </a:endParaRPr>
          </a:p>
        </p:txBody>
      </p:sp>
      <p:sp>
        <p:nvSpPr>
          <p:cNvPr id="21" name="Paragraph"/>
          <p:cNvSpPr/>
          <p:nvPr/>
        </p:nvSpPr>
        <p:spPr>
          <a:xfrm>
            <a:off x="8953500" y="8324850"/>
            <a:ext cx="676275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kern="0" spc="-75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 industrijskom okruženju, Jetson Thor se može koristiti u robotskim rukama za zadatke kao što je kontrola kvaliteta, gdje se visoko-razlučive kamere i AI modeli koriste za identifikaciju nedostataka u realnom vremenu.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rs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0750" y="9677400"/>
            <a:ext cx="13906500" cy="228600"/>
          </a:xfrm>
          <a:prstGeom prst="rect">
            <a:avLst/>
          </a:prstGeom>
        </p:spPr>
      </p:pic>
      <p:sp>
        <p:nvSpPr>
          <p:cNvPr id="3" name="Subheading"/>
          <p:cNvSpPr/>
          <p:nvPr/>
        </p:nvSpPr>
        <p:spPr>
          <a:xfrm>
            <a:off x="2190750" y="2286000"/>
            <a:ext cx="14239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126" dirty="0">
                <a:solidFill>
                  <a:srgbClr val="BCC0C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PROJEKTOVANJE SISTEMA NA ČIPU</a:t>
            </a:r>
            <a:endParaRPr lang="en-US" sz="2100" dirty="0"/>
          </a:p>
        </p:txBody>
      </p:sp>
      <p:sp>
        <p:nvSpPr>
          <p:cNvPr id="4" name="Title"/>
          <p:cNvSpPr/>
          <p:nvPr/>
        </p:nvSpPr>
        <p:spPr>
          <a:xfrm>
            <a:off x="2190750" y="2990850"/>
            <a:ext cx="139255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0500" b="1" kern="0" spc="-300" dirty="0">
                <a:solidFill>
                  <a:srgbClr val="FFFFFF"/>
                </a:solidFill>
                <a:latin typeface="Inter Semi Bold" pitchFamily="34" charset="0"/>
                <a:ea typeface="Inter Semi Bold"/>
                <a:cs typeface="Inter Semi Bold" pitchFamily="34" charset="-120"/>
              </a:rPr>
              <a:t>Hvala na pažnji!</a:t>
            </a:r>
            <a:endParaRPr lang="en-US" sz="10500" b="1">
              <a:ea typeface="Inter Semi Bold"/>
              <a:cs typeface="Calibri"/>
            </a:endParaRPr>
          </a:p>
        </p:txBody>
      </p:sp>
      <p:sp>
        <p:nvSpPr>
          <p:cNvPr id="5" name="Subheading 2"/>
          <p:cNvSpPr/>
          <p:nvPr/>
        </p:nvSpPr>
        <p:spPr>
          <a:xfrm>
            <a:off x="2190750" y="4895850"/>
            <a:ext cx="93154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-75" dirty="0">
                <a:solidFill>
                  <a:srgbClr val="BCC0C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Dženana Sadiković, Dženita Moranjkić, Mahir Suljić i Kešetović Amar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126</cp:revision>
  <dcterms:created xsi:type="dcterms:W3CDTF">2025-12-08T13:05:33Z</dcterms:created>
  <dcterms:modified xsi:type="dcterms:W3CDTF">2025-12-08T15:44:09Z</dcterms:modified>
</cp:coreProperties>
</file>